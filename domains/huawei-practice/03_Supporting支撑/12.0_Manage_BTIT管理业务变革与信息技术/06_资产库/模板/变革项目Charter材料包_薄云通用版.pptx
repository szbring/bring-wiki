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封面页。使用说明：请将标题中的项目名称替换为实际项目名称，日期填写实际启动日期。本模板基于华为IPD Charter材料包标准，结合薄云咨询管理咨询实践进行优化。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目录页。本Charter材料包共14个核心章节，覆盖DCP评审所需的全部关键信息。建议在开工会前完成所有章节内容填写，确保IPMT评审委员能够基于完整信息做出Go/No-Go决策。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一开场，约2分钟。话术：「项目概要是Charter的核心——它回答三个基本问题：我们为什么做这个项目？我们要做什么？怎么做？这三个问题如果在立项时说不清楚，项目执行中必然会出现方向偏差。」过渡语：「我们来填写项目概要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概要页。填写要点：①业务目标要从客户/市场需求出发，而不是从技术或产品角度出发；②范围要明确"做什么"和"不做什么"，防止范围蔓延；③执行策略要体现与竞争方案的差异化。此页信息是IPMT评审决策的首要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章节二，约1分钟。话术：「约束条件是项目执行的边界墙。在这堵墙内，团队有充分的创意空间；越过边界，就会面临重大风险。明确约束比明确目标更重要，因为它决定了'不能做什么'。」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约束条件是Charter中最容易被忽视但最重要的部分。填写提示：约束条件要尽量量化（如"不超过500万"而不是"预算有限"），避免模糊描述。每个约束都应注明"来源"（谁定的）和"级别"（能否变更）。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其它说明页是Charter中的"背景信息"区。填写提示：继承信息要说明"站在哪些巨人肩膀上"，避免重复造轮子；总体指导方针要体现项目与公司战略的链接，确保IPMT能判断该项目的战略价值。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章节四，约1分钟。话术：「接受标准回答一个关键问题：什么叫做完成了？很多项目的争议和返工，根源在于'完成'的定义不清楚。接受标准要在项目开始前就谈清楚，而不是到交付时再争论。」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接受标准页。填写要点：①标准必须可量化、可验证，避免"客户满意"这类主观表述；②每个标准都要有验证方式和验证时间；③关键接受标准需要经过客户/赞助人确认签字。此页内容直接影响项目验收和回款。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章节五，约1分钟。话术：「项目的成败往往不是技术问题，而是人的问题。识别清楚谁是利益关系人，他们关注什么，他们的影响力如何，是项目成功的关键前提。」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利益关系人页。分析方法：用影响力×关注度矩阵对利益关系人分级管理。高影响力+高关注度→密切管理（Key stakeholders）；高影响力+低关注度→保持满意；低影响力+高关注度→及时告知；低影响力+低关注度→例行监控。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章节六，约1分钟。话术：「项目团队的核心问题不是人够不够，而是责任清不清。谁负责什么、谁有权决策什么，这些在项目开始就要说清楚，否则遇到问题就会互相推诿。」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项目团队页。PDT（Product Development Team）是IPD中跨功能的产品开发团队。填写提示：①PDT Leader需要有足够的授权，能调动跨部门资源；②核心成员需要评估其任职资格是否与承担的工作匹配；③来源部门的主管需要确认人员投入比例。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件页。填写要点：①交付件要与DCP阶段评审节点对齐；②每个交付件需要有明确的"接收方"，而不只是"提交给"；③质量标准要具体可验证。常见错误：把"输出物"当成"交付件"，如代码不是交付件，但测试通过的可部署包是交付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沟通和培训计划页。重要提示：沟通计划要区分两类信息——①常规进展沟通（例行）②决策需求沟通（按需）。培训计划要评估：哪些角色需要培训，培训完成是项目启动的前提条件还是可以并行推进。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章节九，约1分钟。话术：「资源规划的常见问题是'资源不够但说不清楚缺什么'。正确的做法是先分解工作（WBS），再匹配资源，最后识别缺口。这样才能有理有据地向高层申请资源。」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资源需求页。填写提示：①投入比例要基于实际工作量评估，不能写100%但实际只投入20%；②外部资源（顾问/外包/设备）要提前启动采购流程；③资源缺口要在Charter中明确提出，由IPMT协调解决。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章节十，约2分钟。话术：「ROI分析是IPMT做投资决策的核心依据。好的ROI分析不只是说'能赚多少钱'，而是说清楚：为什么这个项目值得投资？投资回报的逻辑是什么？基于什么假设？」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分析页。填写提示：①有形收益要保守估计，无形收益要定性描述；②ROI计算要说明假设条件（如市场规模、转化率等）；③需要财务BP参与建立财务模型。华为IPD的ROI是DCP评审的核心判断依据，要有充分的数据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关键成功因素页。填写提示：①CSF要聚焦在"这个项目特有的"成功要素，而不是通用的项目管理原则；②每个CSF都要有对应的监控指标和负责人；③CSF不能超过5-7个，太多等于没有重点。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章节十二，约2分钟。话术：「风险不是坏事，未被识别的风险才是坏事。好的风险管理不是把风险从报告里删掉，而是识别它、量化它、管理它。IPMT需要看到真实的风险，才能做出正确的资源配置决策。」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风险与依赖页。填写提示：①可能性和影响程度用高/中/低量化，综合评级=可能性×影响；②高风险项必须有具体的规避措施和负责人；③依赖关系单独列出，明确依赖方是谁、依赖什么、依赖的时间节点。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里程碑页。IPD的5个DCP节点对应产品从立项到上市的全生命周期。填写提示：①日期要基于资源和工作量反推，不能倒推计划；②每个DCP的"评审标准"是Go/No-Go的判断依据；③如果计划日期不现实，在Charter阶段就要提出来讨论，而不是执行时再延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建议和后续步骤页。话术：「Charter审议通过后，最重要的事是在72小时内把第一步行动落地。每延迟一天，项目启动的动能就减少一分。」重要提示：本页的5个步骤要在Charter评审时同步确认责任人和时间节点。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金句页。可以在Charter评审会结束时展示，作为对团队的激励和共识确认。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封底。模板使用说明：本模板可根据项目实际情况调整章节顺序和内容深度。轻量项目可合并部分章节；大型项目可在每章下增加子页。如有定制化需求，请联系薄云咨询顾问团队。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9768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991856" y="-18288"/>
            <a:ext cx="466344" cy="180136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8083296" y="731520"/>
            <a:ext cx="292608" cy="292608"/>
          </a:xfrm>
          <a:prstGeom prst="star4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0"/>
            <a:ext cx="0" cy="1280160"/>
          </a:xfrm>
          <a:prstGeom prst="line">
            <a:avLst/>
          </a:prstGeom>
          <a:noFill/>
          <a:ln w="19050">
            <a:solidFill>
              <a:srgbClr val="FFFFFF">
                <a:alpha val="31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14173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2743200"/>
            <a:ext cx="0" cy="1554480"/>
          </a:xfrm>
          <a:prstGeom prst="line">
            <a:avLst/>
          </a:prstGeom>
          <a:noFill/>
          <a:ln w="19050">
            <a:solidFill>
              <a:srgbClr val="FFFFFF">
                <a:alpha val="31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薄云咨询 · IPD项目管理工具包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变革项目阶段决策评审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Charter 材料包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88136" y="2011680"/>
            <a:ext cx="36576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项目任务书 · 工作任务说明书 · 利益关系人 · 资源计划 · ROI分析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Charter | DCP评审 | 项目任务书 | IPD | 阶段决策</a:t>
            </a:r>
            <a:endParaRPr lang="en-US" sz="1600" dirty="0"/>
          </a:p>
        </p:txBody>
      </p:sp>
      <p:pic>
        <p:nvPicPr>
          <p:cNvPr id="12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297680"/>
            <a:ext cx="2560320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8072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内容目录</a:t>
            </a:r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|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2286000" cy="0"/>
          </a:xfrm>
          <a:prstGeom prst="line">
            <a:avLst/>
          </a:prstGeom>
          <a:noFill/>
          <a:ln w="31750">
            <a:solidFill>
              <a:srgbClr val="E88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188720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225296"/>
            <a:ext cx="60089" cy="60089"/>
          </a:xfrm>
          <a:prstGeom prst="ellipse">
            <a:avLst/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225296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5969" y="1188720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27325" y="1321961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05840" y="1431689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468265"/>
            <a:ext cx="60089" cy="60089"/>
          </a:xfrm>
          <a:prstGeom prst="ellipse">
            <a:avLst/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1468265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5969" y="1431689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27325" y="1564930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05840" y="1674658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1711234"/>
            <a:ext cx="60089" cy="60089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1711234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5969" y="1674658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27325" y="1807899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05840" y="1917627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1954203"/>
            <a:ext cx="60089" cy="60089"/>
          </a:xfrm>
          <a:prstGeom prst="ellipse">
            <a:avLst/>
          </a:prstGeom>
          <a:solidFill>
            <a:srgbClr val="E883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1954203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5969" y="1917627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27325" y="2050869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05840" y="2160597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280" y="2197173"/>
            <a:ext cx="60089" cy="60089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2197173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85969" y="2160597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27325" y="2293838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005840" y="2403566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" y="2440142"/>
            <a:ext cx="60089" cy="60089"/>
          </a:xfrm>
          <a:prstGeom prst="ellipse">
            <a:avLst/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97280" y="2440142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85969" y="2403566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27325" y="2536807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005840" y="2646535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0" y="2683111"/>
            <a:ext cx="60089" cy="60089"/>
          </a:xfrm>
          <a:prstGeom prst="ellipse">
            <a:avLst/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97280" y="2683111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85969" y="2646535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27325" y="2779776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005840" y="2889504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97280" y="2926080"/>
            <a:ext cx="60089" cy="60089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97280" y="2926080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85969" y="2889504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127325" y="3022745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005840" y="3132473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0" y="3169049"/>
            <a:ext cx="60089" cy="60089"/>
          </a:xfrm>
          <a:prstGeom prst="ellipse">
            <a:avLst/>
          </a:prstGeom>
          <a:solidFill>
            <a:srgbClr val="E883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97280" y="3169049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385969" y="3132473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27325" y="3265714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005840" y="3375442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51" name="Shape 49"/>
          <p:cNvSpPr/>
          <p:nvPr/>
        </p:nvSpPr>
        <p:spPr>
          <a:xfrm>
            <a:off x="1097280" y="3412018"/>
            <a:ext cx="60089" cy="60089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097280" y="3412018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385969" y="3375442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127325" y="3508683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1005840" y="3618411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7280" y="3654987"/>
            <a:ext cx="60089" cy="60089"/>
          </a:xfrm>
          <a:prstGeom prst="ellipse">
            <a:avLst/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1097280" y="3654987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385969" y="3618411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127325" y="3751653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005840" y="3861381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61" name="Shape 59"/>
          <p:cNvSpPr/>
          <p:nvPr/>
        </p:nvSpPr>
        <p:spPr>
          <a:xfrm>
            <a:off x="1097280" y="3897957"/>
            <a:ext cx="60089" cy="60089"/>
          </a:xfrm>
          <a:prstGeom prst="ellipse">
            <a:avLst/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097280" y="3897957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385969" y="3861381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127325" y="3994622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005840" y="4104350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97280" y="4140926"/>
            <a:ext cx="60089" cy="60089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097280" y="4140926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385969" y="4104350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127325" y="4237591"/>
            <a:ext cx="0" cy="109728"/>
          </a:xfrm>
          <a:prstGeom prst="line">
            <a:avLst/>
          </a:prstGeom>
          <a:noFill/>
          <a:ln w="19050">
            <a:solidFill>
              <a:srgbClr val="D0D8E4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1005840" y="4347319"/>
            <a:ext cx="7040880" cy="133241"/>
          </a:xfrm>
          <a:prstGeom prst="roundRect">
            <a:avLst>
              <a:gd name="adj" fmla="val 41177"/>
            </a:avLst>
          </a:prstGeom>
          <a:solidFill>
            <a:srgbClr val="F0F5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97280" y="4383895"/>
            <a:ext cx="60089" cy="60089"/>
          </a:xfrm>
          <a:prstGeom prst="ellipse">
            <a:avLst/>
          </a:prstGeom>
          <a:solidFill>
            <a:srgbClr val="E883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097280" y="4383895"/>
            <a:ext cx="60089" cy="6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385969" y="4347319"/>
            <a:ext cx="6569311" cy="13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pic>
        <p:nvPicPr>
          <p:cNvPr id="74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 — Statement of 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描述项目应该始终专注的业务问题和/或客户需求，为团队提供清晰的项目方向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项目概要（SOW）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03136" y="137160"/>
            <a:ext cx="2066544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03136" y="1371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项目概要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项目基本信息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项目群执行赞助人：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项目启动日期：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计划完成日期：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项目目标与范围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（描述项目要解决的业务问题和客户需求）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项目范围：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（明确项目边界，包括在范围内和范围外的内容）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执行策略：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（简述实现目标的主要途径）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工作任务说明书 — 约束条件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Constraints — 识别约束并管理边界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明确约束条件，帮助团队在有限条件下做出最优决策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工作任务说明书 — 约束条件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03136" y="137160"/>
            <a:ext cx="2066544" cy="320040"/>
          </a:xfrm>
          <a:prstGeom prst="roundRect">
            <a:avLst>
              <a:gd name="adj" fmla="val 45714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03136" y="1371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约束条件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哪些约束条件是硬性边界（不可突破）？哪些是软性限制（可协商）？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1011555"/>
            <a:ext cx="548640" cy="548640"/>
          </a:xfrm>
          <a:prstGeom prst="ellipse">
            <a:avLst/>
          </a:prstGeom>
          <a:solidFill>
            <a:srgbClr val="2C5A8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1155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91440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预算约束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124872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总预算上限：___万元。分阶段预算：概念阶段___万，计划阶段___万，开发阶段___万。超预算需提交变更申请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" y="1845945"/>
            <a:ext cx="548640" cy="54864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84594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174879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进度约束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54480" y="208311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计划上市/完成时间：____年__月__日。关键里程碑不可延期，如需调整须经IPMT批准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2680335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68033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54480" y="258318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技术与架构约束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291750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必须遵循的技术标准、架构规范或平台要求（如适用）。兼容性要求、性能指标下限等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" y="3514725"/>
            <a:ext cx="548640" cy="548640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51472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554480" y="341757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法规与合规约束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3751897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适用的法律法规、行业标准、客户合同条款。认证要求（如ISO/CE/3C等）及取证时间节点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工作任务说明书 — 其它说明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03136" y="137160"/>
            <a:ext cx="2066544" cy="320040"/>
          </a:xfrm>
          <a:prstGeom prst="roundRect">
            <a:avLst>
              <a:gd name="adj" fmla="val 45714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03136" y="1371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其它说明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📂 继承信息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与本项目相关的前序工作：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选型阶段完成的机会分析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相关历史项目经验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可复用的技术资产或平台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已有客户承诺或合同条款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总体指导方针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投资组合相关信息：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本项目在产品线整体规划中的定位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竞争分析结论与应对策略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与其他在研项目的协同或竞争关系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高层战略指令相关要求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接受标准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 Criteria — 定义"完成"的标准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接受标准是项目质量的底线——没有清晰的接受标准，就没有明确的完工定义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接受标准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03136" y="137160"/>
            <a:ext cx="2066544" cy="320040"/>
          </a:xfrm>
          <a:prstGeom prst="roundRect">
            <a:avLst>
              <a:gd name="adj" fmla="val 45714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6803136" y="1371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接受标准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具体标准描述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需求满足度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列出必须满足的客户/市场需求清单，逐项验证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需求评审会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交付件完整性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所有计划交付件均已交付并通过评审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交付件清单核查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项目经理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关键质量指标（如缺陷率、性能指标）达到规定标准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测试报告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评审通过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DCP各阶段评审全部获得IPMT批准（Go）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评审决议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IPMT主席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1325880"/>
            <a:ext cx="54864" cy="713232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9" name="Shape 5"/>
          <p:cNvSpPr/>
          <p:nvPr/>
        </p:nvSpPr>
        <p:spPr>
          <a:xfrm>
            <a:off x="685800" y="2039112"/>
            <a:ext cx="54864" cy="512064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2551176"/>
            <a:ext cx="54864" cy="7132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3264408"/>
            <a:ext cx="54864" cy="713232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411480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41148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所有接受标准必须在项目启动时经IPMT确认，成为项目完工的客观依据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项目利益关系人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Stakeholders — 识别、分析、管理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利益关系人管理的核心：不同的人关注不同的事，满足关键人的核心诉求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项目利益关系人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601968" y="137160"/>
            <a:ext cx="2267712" cy="320040"/>
          </a:xfrm>
          <a:prstGeom prst="roundRect">
            <a:avLst>
              <a:gd name="adj" fmla="val 45714"/>
            </a:avLst>
          </a:prstGeom>
          <a:solidFill>
            <a:srgbClr val="417ABE"/>
          </a:solidFill>
          <a:ln/>
        </p:spPr>
      </p:sp>
      <p:sp>
        <p:nvSpPr>
          <p:cNvPr id="5" name="Text 3"/>
          <p:cNvSpPr/>
          <p:nvPr/>
        </p:nvSpPr>
        <p:spPr>
          <a:xfrm>
            <a:off x="6601968" y="13716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利益关系人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职位/角色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关注点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管理策略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执行赞助人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项目战略价值、投资回报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定期高层汇报，重大决策前提前沟通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业务目标达成、交付时间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周期性进展同步，需求变更及时确认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技术方案可行性、技术风险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技术方案评审，风险预警及时传达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客户代表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功能满足度、使用体验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需求确认，UAT测试参与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预算合规、ROI实现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预算执行报告，成本偏差分析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1325880"/>
            <a:ext cx="54864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5"/>
          <p:cNvSpPr/>
          <p:nvPr/>
        </p:nvSpPr>
        <p:spPr>
          <a:xfrm>
            <a:off x="685800" y="2039112"/>
            <a:ext cx="54864" cy="713232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2752344"/>
            <a:ext cx="54864" cy="713232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3465576"/>
            <a:ext cx="54864" cy="5120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3977640"/>
            <a:ext cx="54864" cy="512064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4626864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46268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利益关系人名单应在项目启动后1周内完成，并随项目进展动态更新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项目组织与团队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 — 明确角色，落实责任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项目组织不是组织架构图，而是责任分配系统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项目组织与团队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03136" y="137160"/>
            <a:ext cx="2066544" cy="320040"/>
          </a:xfrm>
          <a:prstGeom prst="roundRect">
            <a:avLst>
              <a:gd name="adj" fmla="val 45714"/>
            </a:avLst>
          </a:prstGeom>
          <a:solidFill>
            <a:srgbClr val="417ABE"/>
          </a:solidFill>
          <a:ln/>
        </p:spPr>
      </p:sp>
      <p:sp>
        <p:nvSpPr>
          <p:cNvPr id="5" name="Text 3"/>
          <p:cNvSpPr/>
          <p:nvPr/>
        </p:nvSpPr>
        <p:spPr>
          <a:xfrm>
            <a:off x="6803136" y="1371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项目组织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971550"/>
                <a:gridCol w="971550"/>
                <a:gridCol w="971550"/>
                <a:gridCol w="971550"/>
                <a:gridCol w="971550"/>
                <a:gridCol w="971550"/>
                <a:gridCol w="971550"/>
                <a:gridCol w="97155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来源部门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任职资格等级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相关经验(年)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PDT Leader/项目经理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系统工程师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研发工程师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测试工程师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市场/销售代表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供应链代表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财务代表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1325880"/>
            <a:ext cx="54864" cy="91440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9" name="Shape 5"/>
          <p:cNvSpPr/>
          <p:nvPr/>
        </p:nvSpPr>
        <p:spPr>
          <a:xfrm>
            <a:off x="685800" y="2240280"/>
            <a:ext cx="54864" cy="32004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2560320"/>
            <a:ext cx="54864" cy="512064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3072384"/>
            <a:ext cx="54864" cy="512064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3584448"/>
            <a:ext cx="54864" cy="5120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4096512"/>
            <a:ext cx="54864" cy="5120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4608576"/>
            <a:ext cx="54864" cy="512064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5120640"/>
            <a:ext cx="54864" cy="32004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6" name="Shape 12"/>
          <p:cNvSpPr/>
          <p:nvPr/>
        </p:nvSpPr>
        <p:spPr>
          <a:xfrm>
            <a:off x="685800" y="557784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" y="5577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注：相关业务经验包括入职前的业务经验。团队组建后须明确RACI矩阵，落实每个关键任务的责任人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项目/子项目交付件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04304" y="137160"/>
            <a:ext cx="1865376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7004304" y="1371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交付件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每个交付件是否有明确的质量标准和验收人？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交付件名称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计划交付日期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需求规格说明书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概念阶段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通过需求评审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IPMT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计划阶段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通过技术评审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IPMT/研发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原型/Demo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开发阶段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达到Demo验收标准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客户/业务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测试报告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验证阶段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满足质量门禁指标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IPMT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上市发布包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发布阶段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通过发布评审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销售/客服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402336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4023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交付件清单需与里程碑计划对齐，确保每个DCP评审点前完成对应交付件的准备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沟通和培训计划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03136" y="137160"/>
            <a:ext cx="2066544" cy="320040"/>
          </a:xfrm>
          <a:prstGeom prst="roundRect">
            <a:avLst>
              <a:gd name="adj" fmla="val 45714"/>
            </a:avLst>
          </a:prstGeom>
          <a:solidFill>
            <a:srgbClr val="417ABE"/>
          </a:solidFill>
          <a:ln/>
        </p:spPr>
      </p:sp>
      <p:sp>
        <p:nvSpPr>
          <p:cNvPr id="5" name="Text 3"/>
          <p:cNvSpPr/>
          <p:nvPr/>
        </p:nvSpPr>
        <p:spPr>
          <a:xfrm>
            <a:off x="6803136" y="1371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 沟通培训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沟通计划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沟通对象：___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沟通内容：项目进展、风险、决策需求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沟通频率：周报（每周一）/ 月度汇报（每月末）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沟通方式：邮件/会议/平台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责任人：项目经理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特殊沟通场景：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重大风险：立即上报赞助人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范围变更：IPMT专项会议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培训计划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是否需要培训：☐ 是  ☐ 否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如需培训：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培训对象：___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培训内容：___（新流程/新工具/新产品等）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培训形式：☐ 课堂 ☐ 在线 ☐ OJT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培训时间：___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培训评估方式：___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培训负责人：___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Resources — 人力、预算、设备的全面规划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资源需求要基于WBS分解，而不是拍脑袋估算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03136" y="137160"/>
            <a:ext cx="2066544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6803136" y="1371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 资源需求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投入比例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项目经理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内部调配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内部调配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概念-计划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研发工程师×N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100%×N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内部/外包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开发-验证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测试工程师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内部调配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外部顾问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外部采购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1325880"/>
            <a:ext cx="54864" cy="32004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9" name="Shape 5"/>
          <p:cNvSpPr/>
          <p:nvPr/>
        </p:nvSpPr>
        <p:spPr>
          <a:xfrm>
            <a:off x="685800" y="1645920"/>
            <a:ext cx="54864" cy="32004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1965960"/>
            <a:ext cx="54864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2286000"/>
            <a:ext cx="54864" cy="32004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2606040"/>
            <a:ext cx="54864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306324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30632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总人力投入：___人月。外部采购：___万元（设备/软件/服务）。合计资源预算：___万元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ROI分析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 on Investment — 项目的商业价值论证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ROI不只是数字游戏，而是对投资回报逻辑的清晰表达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"/>
            <a:ext cx="2468880" cy="320040"/>
          </a:xfrm>
          <a:prstGeom prst="roundRect">
            <a:avLst>
              <a:gd name="adj" fmla="val 45714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37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 ROI分析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有形收益（可量化）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直接收入增加：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新产品/服务预计年收入：___万元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市场份额提升：___%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成本节约：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运营效率提升节约：___万元/年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人力成本减少：___万元/年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投资回收期：___年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预计IRR：___%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无形收益（战略价值）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战略管理价值：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支持公司战略目标：___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强化竞争优势：___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运营管理价值：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提升运营效率：___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改善决策质量：___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品牌与声誉价值：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客户满意度提升：___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市场影响力增强：___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关键成功因素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99632" y="137160"/>
            <a:ext cx="2670048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199632" y="13716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 关键成功因素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这些关键成功因素是否可监控、可测量？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1011555"/>
            <a:ext cx="548640" cy="548640"/>
          </a:xfrm>
          <a:prstGeom prst="ellipse">
            <a:avLst/>
          </a:prstGeom>
          <a:solidFill>
            <a:srgbClr val="2C5A8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1155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91440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高层支持与授权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124872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执行赞助人保持持续关注，在关键决策点提供明确指向。监控指标：高层参与度、决策响应时间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" y="1845945"/>
            <a:ext cx="548640" cy="54864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84594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174879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跨部门协作效率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54480" y="208311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铁三角（客户经理/解决方案经理/交付经理）高效协同。监控指标：跨部门会议决议执行率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2680335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68033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54480" y="258318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需求稳定性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2917508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核心需求在计划阶段锁定，变更通过正式流程管控。监控指标：需求变更率（目标&lt;15%）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" y="3514725"/>
            <a:ext cx="548640" cy="548640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51472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554480" y="3417570"/>
            <a:ext cx="685800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资源到位及时性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3751897"/>
            <a:ext cx="6858000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关键资源在需要时按时到位，不因资源缺口阻塞进度。监控指标：资源到位率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关键依赖、风险及规避措施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Dependencies &amp; Risks — 提前看见，主动应对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风险管理的本质：把将来可能发生的问题，变成现在可以管理的事项</a:t>
            </a:r>
            <a:endParaRPr lang="en-US" sz="1400" dirty="0"/>
          </a:p>
        </p:txBody>
      </p:sp>
      <p:pic>
        <p:nvPicPr>
          <p:cNvPr id="11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关键依赖与项目风险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"/>
            <a:ext cx="2468880" cy="320040"/>
          </a:xfrm>
          <a:prstGeom prst="roundRect">
            <a:avLst>
              <a:gd name="adj" fmla="val 45714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37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第12章 依赖与风险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风险描述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发生可能性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影响程度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综合评级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应对措施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关键技术难题未解决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提前立技术预研项目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核心团队成员流失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知识转移+人才梯队培养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市场需求变化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缩短迭代周期，MVP验证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供应商/合作伙伴延期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双供应商策略，提前预警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预算超支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月度预算审查，止损机制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1325880"/>
            <a:ext cx="54864" cy="5120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5"/>
          <p:cNvSpPr/>
          <p:nvPr/>
        </p:nvSpPr>
        <p:spPr>
          <a:xfrm>
            <a:off x="685800" y="1837944"/>
            <a:ext cx="54864" cy="512064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2350008"/>
            <a:ext cx="54864" cy="5120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2862072"/>
            <a:ext cx="54864" cy="512064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3374136"/>
            <a:ext cx="54864" cy="5120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402336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4023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风险等级说明：高=需立即制定应对计划；中=需监控并准备应急预案；低=定期复查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"/>
            <a:ext cx="2468880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37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第13章 关键里程碑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每个里程碑是否有明确的Go/No-Go判断标准？</a:t>
            </a:r>
            <a:endParaRPr lang="en-US" sz="1200" dirty="0"/>
          </a:p>
        </p:txBody>
      </p:sp>
      <p:pic>
        <p:nvPicPr>
          <p:cNvPr id="7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7772400" cy="9144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里程碑名称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对应DCP阶段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计划日期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关键交付件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DCP0：立项评审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概念阶段前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Charter材料包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四维度完整输入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⬜ 待执行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DCP1：计划完成评审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计划阶段末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项目计划书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计划可行+资源到位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⬜ 待执行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DCP2：开发完成评审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开发阶段末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技术方案+原型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技术方案通过评审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⬜ 待执行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DCP3：验证完成评审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验证阶段末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测试报告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质量门禁全部通过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⬜ 待执行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DCP4：上市发布评审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发布阶段末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____-__-__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上市包+培训材料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发布就绪度100%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⬜ 待执行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1325880"/>
            <a:ext cx="54864" cy="512064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1837944"/>
            <a:ext cx="54864" cy="512064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2350008"/>
            <a:ext cx="54864" cy="5120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2862072"/>
            <a:ext cx="54864" cy="512064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3374136"/>
            <a:ext cx="54864" cy="5120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402336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" y="4023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DCP评审原则：材料不齐不上会；No-Go是正常决策选项，不是失败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建议和后续步骤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"/>
            <a:ext cx="2468880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37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第14章 建议与行动</a:t>
            </a:r>
            <a:endParaRPr lang="en-US" sz="12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914400"/>
            <a:ext cx="7772400" cy="521208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914400"/>
            <a:ext cx="64008" cy="521208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91440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8760" y="914400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IPMT审议Charter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43400" y="914400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IPMT基于Charter材料包做出Go/No-Go决策，条件通过需明确完成时限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1527048"/>
            <a:ext cx="7772400" cy="521208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1527048"/>
            <a:ext cx="64008" cy="5212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1527048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17A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08760" y="1527048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组建PDT团队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343400" y="1527048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确认核心团队成员，召开PDT开工会。明确角色职责、工作方式、沟通机制。预计时间：IPMT批准后1周内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2139696"/>
            <a:ext cx="7772400" cy="521208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" y="2139696"/>
            <a:ext cx="64008" cy="5212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213969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08760" y="2139696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细化项目计划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43400" y="2139696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基于Charter中的里程碑，制定详细的WBS分解和甘特图。识别关键路径，锁定资源。预计时间：开工后2周内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5800" y="2752344"/>
            <a:ext cx="7772400" cy="521208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5800" y="2752344"/>
            <a:ext cx="64008" cy="52120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2752344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508760" y="2752344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建立管理机制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343400" y="2752344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建立项目例会、风险管理、变更管理等常规机制。明确报告频率和上报路径。预计时间：开工后1周内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5800" y="3364992"/>
            <a:ext cx="7772400" cy="521208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85800" y="3364992"/>
            <a:ext cx="64008" cy="5212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6"/>
          <p:cNvSpPr/>
          <p:nvPr/>
        </p:nvSpPr>
        <p:spPr>
          <a:xfrm>
            <a:off x="868680" y="3364992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508760" y="3364992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开工会暨DCP0评审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343400" y="3364992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召开项目开工会，完成DCP0正式评审，获得IPMT书面批准，启动项目概念阶段工作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85800" y="4087368"/>
            <a:ext cx="7772400" cy="36576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" y="4087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后续行动的核心：快速把Charter转化为可执行的项目计划，避免"计划停留在文件里"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FFFFF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05840" y="109728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Charter不是文档，是承诺——对投资人承诺价值，对团队承诺方向，对客户承诺交付。Charter材料包越扎实，项目执行越顺畅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3200400"/>
            <a:ext cx="1828800" cy="0"/>
          </a:xfrm>
          <a:prstGeom prst="line">
            <a:avLst/>
          </a:prstGeom>
          <a:noFill/>
          <a:ln w="38100">
            <a:solidFill>
              <a:srgbClr val="E8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383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薄云咨询 · IPD项目管理最佳实践</a:t>
            </a:r>
            <a:endParaRPr lang="en-US" sz="1600" dirty="0"/>
          </a:p>
        </p:txBody>
      </p:sp>
      <p:pic>
        <p:nvPicPr>
          <p:cNvPr id="6" name="Image 0" descr="/Users/bring-2/.openclaw/workspace/skills/bringppt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1426464" y="740664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7424928" y="740664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800000">
            <a:off x="1426464" y="4114800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800000">
            <a:off x="7424928" y="4114800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用好Charter，让每个项目都从正确的起点出发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743200" cy="2286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薄云咨询 · IPD项目管理工具包 · Charter材料包模板 v1.0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www.szbring.com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变革项目阶段决策评审Charter材料包_薄云版</dc:title>
  <dc:subject>PptxGenJS Presentation</dc:subject>
  <dc:creator>薄云咨询</dc:creator>
  <cp:lastModifiedBy>薄云咨询</cp:lastModifiedBy>
  <cp:revision>1</cp:revision>
  <dcterms:created xsi:type="dcterms:W3CDTF">2026-03-24T04:02:01Z</dcterms:created>
  <dcterms:modified xsi:type="dcterms:W3CDTF">2026-03-24T04:02:01Z</dcterms:modified>
</cp:coreProperties>
</file>