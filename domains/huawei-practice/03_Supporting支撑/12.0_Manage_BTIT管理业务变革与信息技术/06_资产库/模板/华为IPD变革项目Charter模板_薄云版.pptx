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封面页。本Charter材料包是IPD变革项目的投资决策依据，专为华为IPD导入类变革项目设计。提交前请确认已完成Charter质量自检清单（10项检查）。赞助人需在封面确认签字后提交IPMT。约30秒完成介绍，进入目录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录页。本Charter共14个核心章节，涵盖从战略对齐到财务ROI的完整投资决策要素。特别增加"变革就绪度评估"章节（第3章），这是传统项目Charter中常被忽视的关键环节。引导评审者关注第3章和第11章，这两章体现了本版本的变革管理深度。约1分钟翻过此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章节分隔页。第一章目标：让IPMT在30秒内理解项目是什么、为什么做、谁负责、预计多久。这章是Charter的"门面"，必须清晰简洁。约30秒翻过，进入内容页。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项目概述页。重点提示：①项目名称用动词+目的，如"IPD流程导入项目"而非"研发效率提升项目" ②一句话定义必须包含做什么、目标值、时间节点三要素 ③赞助人姓名必须是真实确认过的高管，不能临时指定。常见错误：用技术语言描述，外行看不懂。自检：把项目描述念给公司前台，她能复述出来吗？约3分钟讲述此页。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章节分隔页。第二章核心逻辑：先建立"烧平台"——用数据证明现状有多痛、不变会多惨，再引出变革的必要性。人类天然对失去比获得更敏感，先说痛再说药是最有效的说服结构。约30秒翻过。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变革背景页。最重要的是"不变的代价"这一栏——这是建立变革紧迫感的核心。IPMT最反感空话，必须有量化的、具体的痛点数据。如果没有数据，需要在Charter提交前做一轮内部调研补充。常见错误：只写"未来有多好"，忘写"现在有多痛"。过渡语：这些痛点是真实存在的，接下来我们评估一下组织是否准备好应对这场变革。约5分钟讲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章节分隔页。第三章是本版Charter的特色章节，也是最常被忽视的章节。变革就绪度评估不是为了证明"我们准备好了"，而是诚实呈现现状、识别障碍、制定应对方案。IPMT评审时必然会问：你们组织准备好了吗？没有就绪度数据支撑的回答是空洞的。约30秒翻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变革就绪度评估页。这是IPD变革Charter的特色章节，传统项目管理Charter中很少出现。核心价值：①让IPMT看到团队有自知之明，提高Charter可信度 ②为后续变革管理策略提供数据依据 ③识别需要在项目启动前解决的根本性障碍。评分数据来源：使用02_诊断工具中的20题问卷。评审应对话术：当IPMT问"你们准备好了吗"，要说"我们做了就绪度评估，战略和领导力维度高分，文化和员工维度需要重点关注，我们已有具体应对计划"。约5分钟讲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章节分隔页。范围章节的重要性往往被低估。IPMT评审中，Out of Scope甚至比In Scope更重要——它防止评审通过后的无限追加需求。约30秒翻过。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项目范围页。使用before-after格式呈现范围，直观对比从哪里来和到哪里去，同时在summary中明确Out of Scope。常见错误：忘记写Out of Scope，导致执行阶段无限追加需求。最佳实践：Out of Scope至少要有3条，包括最容易被误认为在范围内的内容。约3分钟讲述。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章节分隔页。成功标准的质量直接决定项目的可追踪性。没有清晰成功标准的变革项目，在收尾时往往陷入"算不算成功"的争议。约30秒翻过。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业务目标页。表格是呈现SMART指标最清晰的格式。注意：①基线值必须有数据来源，没有基线的目标没有说服力 ②目标值要经过业务负责人确认，不能顾问自行设定 ③采纳率指标非常重要——这是变革管理成效的核心衡量指标，容易被遗漏。IPMT常问：目标值是怎么定的？答案应该是"参考行业最佳实践加公司实际能力基线的综合判断"。过渡语：有了清晰目标，接下来我们看谁是这场变革的关键干系人。约5分钟讲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章节分隔页。利益关系人分析是变革管理的核心工作之一。好的分析不只是列名单，而是要揭示"谁会成为变革推进的障碍，根源是什么，如何应对"。约30秒翻过。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利益关系人分析页。本页特色：增加"阻力类型"列（认知/情感/利益/能力/文化），这是变革管理专用维度。重点讲述中层管理者风险：中层是变革中利益损失最大的群体（权力重新分配），也是推动执行的关键人群。必须对中层进行专项的利益再对齐工作。IPMT必问：你们如何处理反对者？答案应该是"我们已识别出高风险群体，并有具体的利益再设计和参与方案"。过渡语：识别了谁在哪里，接下来看我们计划怎么走、什么时候完成。约5分钟讲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章节分隔页。里程碑章节的特色：本版Charter将里程碑按变革管理五阶段组织，而非传统"阶段1/阶段2"命名，更能体现变革管理的系统性思维。约30秒翻过。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里程碑页。本页特色：用变革管理五阶段（诊断→设计→试点→推广→固化）组织里程碑，直观展示变革管理的完整路径。关键点：①试点阶段是变革成功的关键验证环节，不能跳过 ②固化阶段的制度文件更新是防止"变革反弹"的核心机制 ③DCP节点对应IPD流程的阶段门控，确保每个关键决策点都有正式评审。过渡语：知道了时间表，接下来看需要投入多少资源。约5分钟讲述。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章节分隔页。资源章节的目的是建立信任：团队知道自己需要什么，并已做了充分评估和确认。低估资源是Charter的大忌，执行阶段频繁追加预算会严重损耗IPMT信任。约30秒翻过。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资源需求页。常见错误：①只列外部咨询费，忽略内部人力成本（通常占40-60%）②资源未经相关部门确认，执行时被打回来 ③应急储备不足（建议10-15%）。最佳实践：附资源确认表，列出关键人员姓名及直线主管确认状态。IPMT常问：这些资源都确认可用了吗？答案应该是"是的，XX已确认，YY仍在协调中，我们在风险章节有标注"。过渡语：资源有了，接下来我们坦诚评估风险。约3分钟讲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章节分隔页。风险章节的原则：诚实评估风险反而能提高Charter可信度。过于乐观会让IPMT怀疑团队是否真正了解挑战。约30秒翻过。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风险分析页。本页特色：将"中层管理者阻力"列为极高风险——这在传统项目Charter中很少见，但在变革项目中是最常见的执行障碍。常见错误：①风险描述太宏观 ②应对措施模糊（"积极沟通"） ③没有预警指标。最佳实践：每个高风险项都有预警指标——"当出现X信号时，立即采取Y行动"。过渡语：清楚了风险在哪，接下来看谁来承担这些职责。约5分钟讲述。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章节分隔页。组织架构不只是谁在项目里，更重要的是谁有决策权和冲突升级时找谁拍板。特色：将变革管理作为独立第三层架构，与决策层和执行层并列。约30秒翻过。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项目组织架构页。特色：将变革管理团队作为独立的第三层架构，与IPMT决策层和PDT执行层并列，凸显变革管理在项目治理中的重要地位。常见错误：变革管理只是PDT的一个子任务，没有独立资源和权责。IPMT常问：变革经理是谁，有多少时间投入？答案应该明确：姓名加投入比例加汇报关系。过渡语：架构清楚了，接下来看我们如何推动人员真正采纳变革。约3分钟讲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章节分隔页。第十一章是变革管理的核心策略章节，必须体现专业深度。IPMT评审时，会判断"团队是否真正理解推进变革的人员挑战"。约30秒翻过。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变革管理策略页。这是本Charter最能体现变革专业性的章节。IPMT评审关注点：①赞助人承诺是否具体（不能只说支持，要有具体活动）②Champion网络是否落地（不能只是概念）③培训是否分层（一刀切效果很差）④阻力应对是否有预案。重点强调：变革管理不是配菜，是主菜。技术方案做得再完美，如果人员不采纳，一切归零。过渡语：策略有了，接下来看如何让全员知情参与。约5分钟讲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沟通计划页。沟通计划的核心原则：不同受众需要不同的频率和渠道（分众沟通）。常见错误：只有全员邮件，没有管理层差异化沟通。沟通目的不只是"通知"，更是建立"认同"——让员工理解变革对他们的好处，而不只是"公司要你这么做"。过渡语：沟通清楚了，接下来说明我们依赖的外部条件和核心假设。约3分钟讲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依赖关系与假设页。这章最容易被忽略，但执行阶段最多摩擦往往来自未显性化的假设。原则：宁可多写假设，也不要漏掉。IPMT常问：如果IT系统改造延期，项目会怎样？答案应该是"我们有备案：人工流程替代方案已设计，只是效率会降低15%，是可接受范围"。过渡语：风险和假设都清楚了，最后看这笔投资是否值得。约3分钟讲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章节分隔页。ROI章节的目的是让IPMT感受到"这是一笔值得投的钱"。关键：收益要保守估算，成本要完整呈现，假设要显性化，投资回收期要符合实际（变革成效通常有6-12个月滞后）。约30秒翻过。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财务ROI页。常见错误：①收益估算过于乐观，IPMT一眼看穿 ②忘记内部人力成本，低估总投入 ③投资回收期没有考虑变革成效滞后性（通常6-12个月后才显现）。最佳实践：提供乐观/中性/保守三种情景，分别展示ROI，体现团队风险意识。IPMT必问：这个收益是怎么算出来的？答案应该有具体的假设和计算逻辑。过渡语：以上是本次变革项目的完整分析，最后汇总关键成功因素。约5分钟讲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关键成功因素页。本页特色：从变革管理视角定义CSF，与传统项目管理的"按时按预算"形成互补。强调：技术方案做得再完美，如果赞助人不可见、中层不对齐、没有持续监测、固化机制缺失，变革必然失败。这四个CSF是变革管理的铁律。IPMT评审时，主动提出这四个CSF并说明保障措施，会显著提升Charter的专业度评分。约5分钟讲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封底页。提交Charter时，赞助人需在封面签字确认，代表对Charter内容的认可和对变革资源投入的承诺。Charter是变革的起点，承诺才是变革成功的真正基础。感谢IPMT评审团队的时间与关注，期待您的批准和支持。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0916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0916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97680"/>
          </a:xfrm>
          <a:prstGeom prst="rect">
            <a:avLst/>
          </a:prstGeom>
          <a:solidFill>
            <a:srgbClr val="2C5A8E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7991856" y="-18288"/>
            <a:ext cx="466344" cy="1801368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FFFFFF">
                <a:alpha val="4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800000">
            <a:off x="8083296" y="731520"/>
            <a:ext cx="292608" cy="292608"/>
          </a:xfrm>
          <a:prstGeom prst="star4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0" y="0"/>
            <a:ext cx="0" cy="1280160"/>
          </a:xfrm>
          <a:prstGeom prst="line">
            <a:avLst/>
          </a:prstGeom>
          <a:noFill/>
          <a:ln w="19050">
            <a:solidFill>
              <a:srgbClr val="FFFFFF">
                <a:alpha val="31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01000" y="1417320"/>
            <a:ext cx="457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>
                    <a:alpha val="5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>
                    <a:alpha val="5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>
                    <a:alpha val="5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>
                    <a:alpha val="5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>
                    <a:alpha val="5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圳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0" y="2743200"/>
            <a:ext cx="0" cy="1554480"/>
          </a:xfrm>
          <a:prstGeom prst="line">
            <a:avLst/>
          </a:prstGeom>
          <a:noFill/>
          <a:ln w="19050">
            <a:solidFill>
              <a:srgbClr val="FFFFFF">
                <a:alpha val="31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88136" y="3657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变革管理专项版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88136" y="9144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华为IPD变革项目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Charter 材料包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1088136" y="2011680"/>
            <a:ext cx="3657600" cy="0"/>
          </a:xfrm>
          <a:prstGeom prst="line">
            <a:avLst/>
          </a:prstGeom>
          <a:noFill/>
          <a:ln w="317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88136" y="224028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8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变革有章法，推进有依据</a:t>
            </a:r>
            <a:endParaRPr lang="en-US" sz="16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600" b="1" dirty="0">
                <a:solidFill>
                  <a:srgbClr val="E88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变革管理 | IPD | 立项决策 | 薄云咨询</a:t>
            </a:r>
            <a:endParaRPr lang="en-US" sz="1600" dirty="0"/>
          </a:p>
        </p:txBody>
      </p:sp>
      <p:pic>
        <p:nvPicPr>
          <p:cNvPr id="12" name="Image 0" descr="/Users/bring-2/.openclaw/workspace/skills/bringppt/assets/bring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297680"/>
            <a:ext cx="2560320" cy="7680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8072"/>
          </a:xfrm>
          <a:prstGeom prst="rect">
            <a:avLst/>
          </a:prstGeom>
          <a:solidFill>
            <a:srgbClr val="417ABE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A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Charter 材料包目录</a:t>
            </a:r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| Contents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868680"/>
            <a:ext cx="2286000" cy="0"/>
          </a:xfrm>
          <a:prstGeom prst="line">
            <a:avLst/>
          </a:prstGeom>
          <a:noFill/>
          <a:ln w="31750">
            <a:solidFill>
              <a:srgbClr val="E883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1188720"/>
            <a:ext cx="7040880" cy="133241"/>
          </a:xfrm>
          <a:prstGeom prst="roundRect">
            <a:avLst>
              <a:gd name="adj" fmla="val 41177"/>
            </a:avLst>
          </a:prstGeom>
          <a:solidFill>
            <a:srgbClr val="F0F5FA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1225296"/>
            <a:ext cx="60089" cy="60089"/>
          </a:xfrm>
          <a:prstGeom prst="ellipse">
            <a:avLst/>
          </a:prstGeom>
          <a:solidFill>
            <a:srgbClr val="2C5A8E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280" y="1225296"/>
            <a:ext cx="60089" cy="600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85969" y="1188720"/>
            <a:ext cx="6569311" cy="1332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127325" y="1321961"/>
            <a:ext cx="0" cy="109728"/>
          </a:xfrm>
          <a:prstGeom prst="line">
            <a:avLst/>
          </a:prstGeom>
          <a:noFill/>
          <a:ln w="19050">
            <a:solidFill>
              <a:srgbClr val="D0D8E4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1005840" y="1431689"/>
            <a:ext cx="7040880" cy="133241"/>
          </a:xfrm>
          <a:prstGeom prst="roundRect">
            <a:avLst>
              <a:gd name="adj" fmla="val 41177"/>
            </a:avLst>
          </a:prstGeom>
          <a:solidFill>
            <a:srgbClr val="F0F5FA"/>
          </a:solidFill>
          <a:ln/>
        </p:spPr>
      </p:sp>
      <p:sp>
        <p:nvSpPr>
          <p:cNvPr id="11" name="Shape 9"/>
          <p:cNvSpPr/>
          <p:nvPr/>
        </p:nvSpPr>
        <p:spPr>
          <a:xfrm>
            <a:off x="1097280" y="1468265"/>
            <a:ext cx="60089" cy="60089"/>
          </a:xfrm>
          <a:prstGeom prst="ellipse">
            <a:avLst/>
          </a:prstGeom>
          <a:solidFill>
            <a:srgbClr val="417ABE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97280" y="1468265"/>
            <a:ext cx="60089" cy="600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85969" y="1431689"/>
            <a:ext cx="6569311" cy="1332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127325" y="1564930"/>
            <a:ext cx="0" cy="109728"/>
          </a:xfrm>
          <a:prstGeom prst="line">
            <a:avLst/>
          </a:prstGeom>
          <a:noFill/>
          <a:ln w="19050">
            <a:solidFill>
              <a:srgbClr val="D0D8E4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1005840" y="1674658"/>
            <a:ext cx="7040880" cy="133241"/>
          </a:xfrm>
          <a:prstGeom prst="roundRect">
            <a:avLst>
              <a:gd name="adj" fmla="val 41177"/>
            </a:avLst>
          </a:prstGeom>
          <a:solidFill>
            <a:srgbClr val="F0F5FA"/>
          </a:solidFill>
          <a:ln/>
        </p:spPr>
      </p:sp>
      <p:sp>
        <p:nvSpPr>
          <p:cNvPr id="16" name="Shape 14"/>
          <p:cNvSpPr/>
          <p:nvPr/>
        </p:nvSpPr>
        <p:spPr>
          <a:xfrm>
            <a:off x="1097280" y="1711234"/>
            <a:ext cx="60089" cy="60089"/>
          </a:xfrm>
          <a:prstGeom prst="ellipse">
            <a:avLst/>
          </a:prstGeom>
          <a:solidFill>
            <a:srgbClr val="27AE6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97280" y="1711234"/>
            <a:ext cx="60089" cy="600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85969" y="1674658"/>
            <a:ext cx="6569311" cy="1332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127325" y="1807899"/>
            <a:ext cx="0" cy="109728"/>
          </a:xfrm>
          <a:prstGeom prst="line">
            <a:avLst/>
          </a:prstGeom>
          <a:noFill/>
          <a:ln w="19050">
            <a:solidFill>
              <a:srgbClr val="D0D8E4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1005840" y="1917627"/>
            <a:ext cx="7040880" cy="133241"/>
          </a:xfrm>
          <a:prstGeom prst="roundRect">
            <a:avLst>
              <a:gd name="adj" fmla="val 41177"/>
            </a:avLst>
          </a:prstGeom>
          <a:solidFill>
            <a:srgbClr val="F0F5FA"/>
          </a:solidFill>
          <a:ln/>
        </p:spPr>
      </p:sp>
      <p:sp>
        <p:nvSpPr>
          <p:cNvPr id="21" name="Shape 19"/>
          <p:cNvSpPr/>
          <p:nvPr/>
        </p:nvSpPr>
        <p:spPr>
          <a:xfrm>
            <a:off x="1097280" y="1954203"/>
            <a:ext cx="60089" cy="60089"/>
          </a:xfrm>
          <a:prstGeom prst="ellipse">
            <a:avLst/>
          </a:prstGeom>
          <a:solidFill>
            <a:srgbClr val="E8832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97280" y="1954203"/>
            <a:ext cx="60089" cy="600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85969" y="1917627"/>
            <a:ext cx="6569311" cy="1332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127325" y="2050869"/>
            <a:ext cx="0" cy="109728"/>
          </a:xfrm>
          <a:prstGeom prst="line">
            <a:avLst/>
          </a:prstGeom>
          <a:noFill/>
          <a:ln w="19050">
            <a:solidFill>
              <a:srgbClr val="D0D8E4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1005840" y="2160597"/>
            <a:ext cx="7040880" cy="133241"/>
          </a:xfrm>
          <a:prstGeom prst="roundRect">
            <a:avLst>
              <a:gd name="adj" fmla="val 41177"/>
            </a:avLst>
          </a:prstGeom>
          <a:solidFill>
            <a:srgbClr val="F0F5FA"/>
          </a:solidFill>
          <a:ln/>
        </p:spPr>
      </p:sp>
      <p:sp>
        <p:nvSpPr>
          <p:cNvPr id="26" name="Shape 24"/>
          <p:cNvSpPr/>
          <p:nvPr/>
        </p:nvSpPr>
        <p:spPr>
          <a:xfrm>
            <a:off x="1097280" y="2197173"/>
            <a:ext cx="60089" cy="60089"/>
          </a:xfrm>
          <a:prstGeom prst="ellipse">
            <a:avLst/>
          </a:prstGeom>
          <a:solidFill>
            <a:srgbClr val="C0392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097280" y="2197173"/>
            <a:ext cx="60089" cy="600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385969" y="2160597"/>
            <a:ext cx="6569311" cy="1332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127325" y="2293838"/>
            <a:ext cx="0" cy="109728"/>
          </a:xfrm>
          <a:prstGeom prst="line">
            <a:avLst/>
          </a:prstGeom>
          <a:noFill/>
          <a:ln w="19050">
            <a:solidFill>
              <a:srgbClr val="D0D8E4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1005840" y="2403566"/>
            <a:ext cx="7040880" cy="133241"/>
          </a:xfrm>
          <a:prstGeom prst="roundRect">
            <a:avLst>
              <a:gd name="adj" fmla="val 41177"/>
            </a:avLst>
          </a:prstGeom>
          <a:solidFill>
            <a:srgbClr val="F0F5FA"/>
          </a:solidFill>
          <a:ln/>
        </p:spPr>
      </p:sp>
      <p:sp>
        <p:nvSpPr>
          <p:cNvPr id="31" name="Shape 29"/>
          <p:cNvSpPr/>
          <p:nvPr/>
        </p:nvSpPr>
        <p:spPr>
          <a:xfrm>
            <a:off x="1097280" y="2440142"/>
            <a:ext cx="60089" cy="60089"/>
          </a:xfrm>
          <a:prstGeom prst="ellipse">
            <a:avLst/>
          </a:prstGeom>
          <a:solidFill>
            <a:srgbClr val="2C5A8E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1097280" y="2440142"/>
            <a:ext cx="60089" cy="600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385969" y="2403566"/>
            <a:ext cx="6569311" cy="1332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127325" y="2536807"/>
            <a:ext cx="0" cy="109728"/>
          </a:xfrm>
          <a:prstGeom prst="line">
            <a:avLst/>
          </a:prstGeom>
          <a:noFill/>
          <a:ln w="19050">
            <a:solidFill>
              <a:srgbClr val="D0D8E4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1005840" y="2646535"/>
            <a:ext cx="7040880" cy="133241"/>
          </a:xfrm>
          <a:prstGeom prst="roundRect">
            <a:avLst>
              <a:gd name="adj" fmla="val 41177"/>
            </a:avLst>
          </a:prstGeom>
          <a:solidFill>
            <a:srgbClr val="F0F5FA"/>
          </a:solidFill>
          <a:ln/>
        </p:spPr>
      </p:sp>
      <p:sp>
        <p:nvSpPr>
          <p:cNvPr id="36" name="Shape 34"/>
          <p:cNvSpPr/>
          <p:nvPr/>
        </p:nvSpPr>
        <p:spPr>
          <a:xfrm>
            <a:off x="1097280" y="2683111"/>
            <a:ext cx="60089" cy="60089"/>
          </a:xfrm>
          <a:prstGeom prst="ellipse">
            <a:avLst/>
          </a:prstGeom>
          <a:solidFill>
            <a:srgbClr val="417ABE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1097280" y="2683111"/>
            <a:ext cx="60089" cy="600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385969" y="2646535"/>
            <a:ext cx="6569311" cy="1332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1127325" y="2779776"/>
            <a:ext cx="0" cy="109728"/>
          </a:xfrm>
          <a:prstGeom prst="line">
            <a:avLst/>
          </a:prstGeom>
          <a:noFill/>
          <a:ln w="19050">
            <a:solidFill>
              <a:srgbClr val="D0D8E4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1005840" y="2889504"/>
            <a:ext cx="7040880" cy="133241"/>
          </a:xfrm>
          <a:prstGeom prst="roundRect">
            <a:avLst>
              <a:gd name="adj" fmla="val 41177"/>
            </a:avLst>
          </a:prstGeom>
          <a:solidFill>
            <a:srgbClr val="F0F5FA"/>
          </a:solidFill>
          <a:ln/>
        </p:spPr>
      </p:sp>
      <p:sp>
        <p:nvSpPr>
          <p:cNvPr id="41" name="Shape 39"/>
          <p:cNvSpPr/>
          <p:nvPr/>
        </p:nvSpPr>
        <p:spPr>
          <a:xfrm>
            <a:off x="1097280" y="2926080"/>
            <a:ext cx="60089" cy="60089"/>
          </a:xfrm>
          <a:prstGeom prst="ellipse">
            <a:avLst/>
          </a:prstGeom>
          <a:solidFill>
            <a:srgbClr val="27AE6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1097280" y="2926080"/>
            <a:ext cx="60089" cy="600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1385969" y="2889504"/>
            <a:ext cx="6569311" cy="1332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1127325" y="3022745"/>
            <a:ext cx="0" cy="109728"/>
          </a:xfrm>
          <a:prstGeom prst="line">
            <a:avLst/>
          </a:prstGeom>
          <a:noFill/>
          <a:ln w="19050">
            <a:solidFill>
              <a:srgbClr val="D0D8E4"/>
            </a:solidFill>
            <a:prstDash val="dash"/>
          </a:ln>
        </p:spPr>
      </p:sp>
      <p:sp>
        <p:nvSpPr>
          <p:cNvPr id="45" name="Shape 43"/>
          <p:cNvSpPr/>
          <p:nvPr/>
        </p:nvSpPr>
        <p:spPr>
          <a:xfrm>
            <a:off x="1005840" y="3132473"/>
            <a:ext cx="7040880" cy="133241"/>
          </a:xfrm>
          <a:prstGeom prst="roundRect">
            <a:avLst>
              <a:gd name="adj" fmla="val 41177"/>
            </a:avLst>
          </a:prstGeom>
          <a:solidFill>
            <a:srgbClr val="F0F5FA"/>
          </a:solidFill>
          <a:ln/>
        </p:spPr>
      </p:sp>
      <p:sp>
        <p:nvSpPr>
          <p:cNvPr id="46" name="Shape 44"/>
          <p:cNvSpPr/>
          <p:nvPr/>
        </p:nvSpPr>
        <p:spPr>
          <a:xfrm>
            <a:off x="1097280" y="3169049"/>
            <a:ext cx="60089" cy="60089"/>
          </a:xfrm>
          <a:prstGeom prst="ellipse">
            <a:avLst/>
          </a:prstGeom>
          <a:solidFill>
            <a:srgbClr val="E8832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1097280" y="3169049"/>
            <a:ext cx="60089" cy="600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1385969" y="3132473"/>
            <a:ext cx="6569311" cy="1332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1127325" y="3265714"/>
            <a:ext cx="0" cy="109728"/>
          </a:xfrm>
          <a:prstGeom prst="line">
            <a:avLst/>
          </a:prstGeom>
          <a:noFill/>
          <a:ln w="19050">
            <a:solidFill>
              <a:srgbClr val="D0D8E4"/>
            </a:solidFill>
            <a:prstDash val="dash"/>
          </a:ln>
        </p:spPr>
      </p:sp>
      <p:sp>
        <p:nvSpPr>
          <p:cNvPr id="50" name="Shape 48"/>
          <p:cNvSpPr/>
          <p:nvPr/>
        </p:nvSpPr>
        <p:spPr>
          <a:xfrm>
            <a:off x="1005840" y="3375442"/>
            <a:ext cx="7040880" cy="133241"/>
          </a:xfrm>
          <a:prstGeom prst="roundRect">
            <a:avLst>
              <a:gd name="adj" fmla="val 41177"/>
            </a:avLst>
          </a:prstGeom>
          <a:solidFill>
            <a:srgbClr val="F0F5FA"/>
          </a:solidFill>
          <a:ln/>
        </p:spPr>
      </p:sp>
      <p:sp>
        <p:nvSpPr>
          <p:cNvPr id="51" name="Shape 49"/>
          <p:cNvSpPr/>
          <p:nvPr/>
        </p:nvSpPr>
        <p:spPr>
          <a:xfrm>
            <a:off x="1097280" y="3412018"/>
            <a:ext cx="60089" cy="60089"/>
          </a:xfrm>
          <a:prstGeom prst="ellipse">
            <a:avLst/>
          </a:prstGeom>
          <a:solidFill>
            <a:srgbClr val="C0392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1097280" y="3412018"/>
            <a:ext cx="60089" cy="600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1385969" y="3375442"/>
            <a:ext cx="6569311" cy="1332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1127325" y="3508683"/>
            <a:ext cx="0" cy="109728"/>
          </a:xfrm>
          <a:prstGeom prst="line">
            <a:avLst/>
          </a:prstGeom>
          <a:noFill/>
          <a:ln w="19050">
            <a:solidFill>
              <a:srgbClr val="D0D8E4"/>
            </a:solidFill>
            <a:prstDash val="dash"/>
          </a:ln>
        </p:spPr>
      </p:sp>
      <p:sp>
        <p:nvSpPr>
          <p:cNvPr id="55" name="Shape 53"/>
          <p:cNvSpPr/>
          <p:nvPr/>
        </p:nvSpPr>
        <p:spPr>
          <a:xfrm>
            <a:off x="1005840" y="3618411"/>
            <a:ext cx="7040880" cy="133241"/>
          </a:xfrm>
          <a:prstGeom prst="roundRect">
            <a:avLst>
              <a:gd name="adj" fmla="val 41177"/>
            </a:avLst>
          </a:prstGeom>
          <a:solidFill>
            <a:srgbClr val="F0F5FA"/>
          </a:solidFill>
          <a:ln/>
        </p:spPr>
      </p:sp>
      <p:sp>
        <p:nvSpPr>
          <p:cNvPr id="56" name="Shape 54"/>
          <p:cNvSpPr/>
          <p:nvPr/>
        </p:nvSpPr>
        <p:spPr>
          <a:xfrm>
            <a:off x="1097280" y="3654987"/>
            <a:ext cx="60089" cy="60089"/>
          </a:xfrm>
          <a:prstGeom prst="ellipse">
            <a:avLst/>
          </a:prstGeom>
          <a:solidFill>
            <a:srgbClr val="2C5A8E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1097280" y="3654987"/>
            <a:ext cx="60089" cy="600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1385969" y="3618411"/>
            <a:ext cx="6569311" cy="1332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1127325" y="3751653"/>
            <a:ext cx="0" cy="109728"/>
          </a:xfrm>
          <a:prstGeom prst="line">
            <a:avLst/>
          </a:prstGeom>
          <a:noFill/>
          <a:ln w="19050">
            <a:solidFill>
              <a:srgbClr val="D0D8E4"/>
            </a:solidFill>
            <a:prstDash val="dash"/>
          </a:ln>
        </p:spPr>
      </p:sp>
      <p:sp>
        <p:nvSpPr>
          <p:cNvPr id="60" name="Shape 58"/>
          <p:cNvSpPr/>
          <p:nvPr/>
        </p:nvSpPr>
        <p:spPr>
          <a:xfrm>
            <a:off x="1005840" y="3861381"/>
            <a:ext cx="7040880" cy="133241"/>
          </a:xfrm>
          <a:prstGeom prst="roundRect">
            <a:avLst>
              <a:gd name="adj" fmla="val 41177"/>
            </a:avLst>
          </a:prstGeom>
          <a:solidFill>
            <a:srgbClr val="F0F5FA"/>
          </a:solidFill>
          <a:ln/>
        </p:spPr>
      </p:sp>
      <p:sp>
        <p:nvSpPr>
          <p:cNvPr id="61" name="Shape 59"/>
          <p:cNvSpPr/>
          <p:nvPr/>
        </p:nvSpPr>
        <p:spPr>
          <a:xfrm>
            <a:off x="1097280" y="3897957"/>
            <a:ext cx="60089" cy="60089"/>
          </a:xfrm>
          <a:prstGeom prst="ellipse">
            <a:avLst/>
          </a:prstGeom>
          <a:solidFill>
            <a:srgbClr val="417ABE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1097280" y="3897957"/>
            <a:ext cx="60089" cy="600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800" dirty="0"/>
          </a:p>
        </p:txBody>
      </p:sp>
      <p:sp>
        <p:nvSpPr>
          <p:cNvPr id="63" name="Text 61"/>
          <p:cNvSpPr/>
          <p:nvPr/>
        </p:nvSpPr>
        <p:spPr>
          <a:xfrm>
            <a:off x="1385969" y="3861381"/>
            <a:ext cx="6569311" cy="1332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64" name="Shape 62"/>
          <p:cNvSpPr/>
          <p:nvPr/>
        </p:nvSpPr>
        <p:spPr>
          <a:xfrm>
            <a:off x="1127325" y="3994622"/>
            <a:ext cx="0" cy="109728"/>
          </a:xfrm>
          <a:prstGeom prst="line">
            <a:avLst/>
          </a:prstGeom>
          <a:noFill/>
          <a:ln w="19050">
            <a:solidFill>
              <a:srgbClr val="D0D8E4"/>
            </a:solidFill>
            <a:prstDash val="dash"/>
          </a:ln>
        </p:spPr>
      </p:sp>
      <p:sp>
        <p:nvSpPr>
          <p:cNvPr id="65" name="Shape 63"/>
          <p:cNvSpPr/>
          <p:nvPr/>
        </p:nvSpPr>
        <p:spPr>
          <a:xfrm>
            <a:off x="1005840" y="4104350"/>
            <a:ext cx="7040880" cy="133241"/>
          </a:xfrm>
          <a:prstGeom prst="roundRect">
            <a:avLst>
              <a:gd name="adj" fmla="val 41177"/>
            </a:avLst>
          </a:prstGeom>
          <a:solidFill>
            <a:srgbClr val="F0F5FA"/>
          </a:solidFill>
          <a:ln/>
        </p:spPr>
      </p:sp>
      <p:sp>
        <p:nvSpPr>
          <p:cNvPr id="66" name="Shape 64"/>
          <p:cNvSpPr/>
          <p:nvPr/>
        </p:nvSpPr>
        <p:spPr>
          <a:xfrm>
            <a:off x="1097280" y="4140926"/>
            <a:ext cx="60089" cy="60089"/>
          </a:xfrm>
          <a:prstGeom prst="ellipse">
            <a:avLst/>
          </a:prstGeom>
          <a:solidFill>
            <a:srgbClr val="27AE6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1097280" y="4140926"/>
            <a:ext cx="60089" cy="600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800" dirty="0"/>
          </a:p>
        </p:txBody>
      </p:sp>
      <p:sp>
        <p:nvSpPr>
          <p:cNvPr id="68" name="Text 66"/>
          <p:cNvSpPr/>
          <p:nvPr/>
        </p:nvSpPr>
        <p:spPr>
          <a:xfrm>
            <a:off x="1385969" y="4104350"/>
            <a:ext cx="6569311" cy="1332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69" name="Shape 67"/>
          <p:cNvSpPr/>
          <p:nvPr/>
        </p:nvSpPr>
        <p:spPr>
          <a:xfrm>
            <a:off x="1127325" y="4237591"/>
            <a:ext cx="0" cy="109728"/>
          </a:xfrm>
          <a:prstGeom prst="line">
            <a:avLst/>
          </a:prstGeom>
          <a:noFill/>
          <a:ln w="19050">
            <a:solidFill>
              <a:srgbClr val="D0D8E4"/>
            </a:solidFill>
            <a:prstDash val="dash"/>
          </a:ln>
        </p:spPr>
      </p:sp>
      <p:sp>
        <p:nvSpPr>
          <p:cNvPr id="70" name="Shape 68"/>
          <p:cNvSpPr/>
          <p:nvPr/>
        </p:nvSpPr>
        <p:spPr>
          <a:xfrm>
            <a:off x="1005840" y="4347319"/>
            <a:ext cx="7040880" cy="133241"/>
          </a:xfrm>
          <a:prstGeom prst="roundRect">
            <a:avLst>
              <a:gd name="adj" fmla="val 41177"/>
            </a:avLst>
          </a:prstGeom>
          <a:solidFill>
            <a:srgbClr val="F0F5FA"/>
          </a:solidFill>
          <a:ln/>
        </p:spPr>
      </p:sp>
      <p:sp>
        <p:nvSpPr>
          <p:cNvPr id="71" name="Shape 69"/>
          <p:cNvSpPr/>
          <p:nvPr/>
        </p:nvSpPr>
        <p:spPr>
          <a:xfrm>
            <a:off x="1097280" y="4383895"/>
            <a:ext cx="60089" cy="60089"/>
          </a:xfrm>
          <a:prstGeom prst="ellipse">
            <a:avLst/>
          </a:prstGeom>
          <a:solidFill>
            <a:srgbClr val="E8832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2" name="Text 70"/>
          <p:cNvSpPr/>
          <p:nvPr/>
        </p:nvSpPr>
        <p:spPr>
          <a:xfrm>
            <a:off x="1097280" y="4383895"/>
            <a:ext cx="60089" cy="600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800" dirty="0"/>
          </a:p>
        </p:txBody>
      </p:sp>
      <p:sp>
        <p:nvSpPr>
          <p:cNvPr id="73" name="Text 71"/>
          <p:cNvSpPr/>
          <p:nvPr/>
        </p:nvSpPr>
        <p:spPr>
          <a:xfrm>
            <a:off x="1385969" y="4347319"/>
            <a:ext cx="6569311" cy="1332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800" dirty="0"/>
          </a:p>
        </p:txBody>
      </p:sp>
      <p:pic>
        <p:nvPicPr>
          <p:cNvPr id="74" name="Image 0" descr="/Users/bring-2/.openclaw/workspace/skills/bringppt/assets/bring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4572000"/>
            <a:ext cx="1005840" cy="30175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0916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0"/>
            <a:ext cx="292608" cy="594360"/>
          </a:xfrm>
          <a:prstGeom prst="rect">
            <a:avLst/>
          </a:prstGeom>
          <a:solidFill>
            <a:srgbClr val="417AB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371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17A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模块一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822960"/>
            <a:ext cx="7772400" cy="1371600"/>
          </a:xfrm>
          <a:prstGeom prst="roundRect">
            <a:avLst>
              <a:gd name="adj" fmla="val 6667"/>
            </a:avLst>
          </a:prstGeom>
          <a:solidFill>
            <a:srgbClr val="2C5A8E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9326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>
                    <a:alpha val="7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117043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项目概述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85800" y="1828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30秒让决策者读懂这个项目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2423160"/>
            <a:ext cx="7772400" cy="502920"/>
          </a:xfrm>
          <a:prstGeom prst="roundRect">
            <a:avLst>
              <a:gd name="adj" fmla="val 10909"/>
            </a:avLst>
          </a:prstGeom>
          <a:solidFill>
            <a:srgbClr val="F0F5FA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2423160"/>
            <a:ext cx="64008" cy="502920"/>
          </a:xfrm>
          <a:prstGeom prst="rect">
            <a:avLst/>
          </a:prstGeom>
          <a:solidFill>
            <a:srgbClr val="E8832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4231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项目名称 × 一句话价值 × 关键信息</a:t>
            </a:r>
            <a:endParaRPr lang="en-US" sz="1400" dirty="0"/>
          </a:p>
        </p:txBody>
      </p:sp>
      <p:pic>
        <p:nvPicPr>
          <p:cNvPr id="11" name="Image 0" descr="/Users/bring-2/.openclaw/workspace/skills/bringppt/assets/bring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4572000"/>
            <a:ext cx="1005840" cy="30175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0916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0"/>
            <a:ext cx="292608" cy="594360"/>
          </a:xfrm>
          <a:prstGeom prst="rect">
            <a:avLst/>
          </a:prstGeom>
          <a:solidFill>
            <a:srgbClr val="417AB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17A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项目概述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808976" y="137160"/>
            <a:ext cx="1060704" cy="320040"/>
          </a:xfrm>
          <a:prstGeom prst="roundRect">
            <a:avLst>
              <a:gd name="adj" fmla="val 45714"/>
            </a:avLst>
          </a:prstGeom>
          <a:solidFill>
            <a:srgbClr val="2C5A8E"/>
          </a:solidFill>
          <a:ln/>
        </p:spPr>
      </p:sp>
      <p:sp>
        <p:nvSpPr>
          <p:cNvPr id="5" name="Text 3"/>
          <p:cNvSpPr/>
          <p:nvPr/>
        </p:nvSpPr>
        <p:spPr>
          <a:xfrm>
            <a:off x="7808976" y="137160"/>
            <a:ext cx="106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71600" y="42519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8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如何用一句话让高管记住这个项目？</a:t>
            </a:r>
            <a:endParaRPr lang="en-US" sz="1200" dirty="0"/>
          </a:p>
        </p:txBody>
      </p:sp>
      <p:pic>
        <p:nvPicPr>
          <p:cNvPr id="7" name="Image 0" descr="/Users/bring-2/.openclaw/workspace/skills/bringppt/assets/bring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4572000"/>
            <a:ext cx="1005840" cy="30175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914400"/>
            <a:ext cx="3840480" cy="3200400"/>
          </a:xfrm>
          <a:prstGeom prst="rect">
            <a:avLst/>
          </a:prstGeom>
          <a:solidFill>
            <a:srgbClr val="F0F5FA"/>
          </a:solidFill>
          <a:ln w="6350">
            <a:solidFill>
              <a:srgbClr val="D0D8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914400"/>
            <a:ext cx="3840480" cy="64008"/>
          </a:xfrm>
          <a:prstGeom prst="rect">
            <a:avLst/>
          </a:prstGeom>
          <a:solidFill>
            <a:srgbClr val="417ABE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11887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A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项目基本信息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22960" y="182880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名称：[XXX公司] IPD变革导入项目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发起部门：[战略/研发/COO办]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项目经理：[姓名]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赞助人：[高管姓名]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周期：[X]个月 | 预算：[XX万元]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754880" y="914400"/>
            <a:ext cx="3840480" cy="3200400"/>
          </a:xfrm>
          <a:prstGeom prst="rect">
            <a:avLst/>
          </a:prstGeom>
          <a:solidFill>
            <a:srgbClr val="F0F5FA"/>
          </a:solidFill>
          <a:ln w="6350">
            <a:solidFill>
              <a:srgbClr val="D0D8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54880" y="914400"/>
            <a:ext cx="3840480" cy="64008"/>
          </a:xfrm>
          <a:prstGeom prst="rect">
            <a:avLst/>
          </a:prstGeom>
          <a:solidFill>
            <a:srgbClr val="417ABE"/>
          </a:solidFill>
          <a:ln/>
        </p:spPr>
      </p:sp>
      <p:sp>
        <p:nvSpPr>
          <p:cNvPr id="14" name="Text 11"/>
          <p:cNvSpPr/>
          <p:nvPr/>
        </p:nvSpPr>
        <p:spPr>
          <a:xfrm>
            <a:off x="5029200" y="11887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A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一句话项目定义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5029200" y="182880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通过引入IPD集成产品开发流程，将产品上市周期从[X]个月缩短至[Y]个月，2027年完成全研发部门覆盖，支撑"更快响应市场"的战略目标。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0916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0"/>
            <a:ext cx="292608" cy="594360"/>
          </a:xfrm>
          <a:prstGeom prst="rect">
            <a:avLst/>
          </a:prstGeom>
          <a:solidFill>
            <a:srgbClr val="417AB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371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17A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模块二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822960"/>
            <a:ext cx="7772400" cy="1371600"/>
          </a:xfrm>
          <a:prstGeom prst="roundRect">
            <a:avLst>
              <a:gd name="adj" fmla="val 6667"/>
            </a:avLst>
          </a:prstGeom>
          <a:solidFill>
            <a:srgbClr val="2C5A8E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9326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>
                    <a:alpha val="7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02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117043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变革背景与驱动力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85800" y="1828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不变的代价比变革的成本更高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2423160"/>
            <a:ext cx="7772400" cy="502920"/>
          </a:xfrm>
          <a:prstGeom prst="roundRect">
            <a:avLst>
              <a:gd name="adj" fmla="val 10909"/>
            </a:avLst>
          </a:prstGeom>
          <a:solidFill>
            <a:srgbClr val="F0F5FA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2423160"/>
            <a:ext cx="64008" cy="502920"/>
          </a:xfrm>
          <a:prstGeom prst="rect">
            <a:avLst/>
          </a:prstGeom>
          <a:solidFill>
            <a:srgbClr val="E8832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4231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现状痛点 → 差距量化 → 不变的代价</a:t>
            </a:r>
            <a:endParaRPr lang="en-US" sz="1400" dirty="0"/>
          </a:p>
        </p:txBody>
      </p:sp>
      <p:pic>
        <p:nvPicPr>
          <p:cNvPr id="11" name="Image 0" descr="/Users/bring-2/.openclaw/workspace/skills/bringppt/assets/bring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4572000"/>
            <a:ext cx="1005840" cy="30175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0916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0"/>
            <a:ext cx="292608" cy="594360"/>
          </a:xfrm>
          <a:prstGeom prst="rect">
            <a:avLst/>
          </a:prstGeom>
          <a:solidFill>
            <a:srgbClr val="417AB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17A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变革背景与驱动力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808976" y="137160"/>
            <a:ext cx="1060704" cy="320040"/>
          </a:xfrm>
          <a:prstGeom prst="roundRect">
            <a:avLst>
              <a:gd name="adj" fmla="val 45714"/>
            </a:avLst>
          </a:prstGeom>
          <a:solidFill>
            <a:srgbClr val="2C5A8E"/>
          </a:solidFill>
          <a:ln/>
        </p:spPr>
      </p:sp>
      <p:sp>
        <p:nvSpPr>
          <p:cNvPr id="5" name="Text 3"/>
          <p:cNvSpPr/>
          <p:nvPr/>
        </p:nvSpPr>
        <p:spPr>
          <a:xfrm>
            <a:off x="7808976" y="137160"/>
            <a:ext cx="106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第二章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71600" y="42519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8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如果不做这个项目，一年后公司会怎样？</a:t>
            </a:r>
            <a:endParaRPr lang="en-US" sz="1200" dirty="0"/>
          </a:p>
        </p:txBody>
      </p:sp>
      <p:pic>
        <p:nvPicPr>
          <p:cNvPr id="7" name="Image 0" descr="/Users/bring-2/.openclaw/workspace/skills/bringppt/assets/bring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4572000"/>
            <a:ext cx="1005840" cy="30175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94360" y="914400"/>
            <a:ext cx="2468880" cy="2560320"/>
          </a:xfrm>
          <a:prstGeom prst="rect">
            <a:avLst/>
          </a:prstGeom>
          <a:solidFill>
            <a:srgbClr val="F0F5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600200" y="1051560"/>
            <a:ext cx="457200" cy="457200"/>
          </a:xfrm>
          <a:prstGeom prst="ellipse">
            <a:avLst/>
          </a:prstGeom>
          <a:solidFill>
            <a:srgbClr val="417ABE"/>
          </a:solidFill>
          <a:ln/>
        </p:spPr>
      </p:sp>
      <p:sp>
        <p:nvSpPr>
          <p:cNvPr id="10" name="Text 7"/>
          <p:cNvSpPr/>
          <p:nvPr/>
        </p:nvSpPr>
        <p:spPr>
          <a:xfrm>
            <a:off x="1600200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77240" y="161848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A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外部竞争压力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77240" y="2029968"/>
            <a:ext cx="210312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主要对手TTM已压至[X]月；客户对迭代速度满意度下滑；行业数字化窗口期收窄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337560" y="914400"/>
            <a:ext cx="2468880" cy="2560320"/>
          </a:xfrm>
          <a:prstGeom prst="rect">
            <a:avLst/>
          </a:prstGeom>
          <a:solidFill>
            <a:srgbClr val="F0F5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343400" y="1051560"/>
            <a:ext cx="457200" cy="457200"/>
          </a:xfrm>
          <a:prstGeom prst="ellipse">
            <a:avLst/>
          </a:prstGeom>
          <a:solidFill>
            <a:srgbClr val="417ABE"/>
          </a:solidFill>
          <a:ln/>
        </p:spPr>
      </p:sp>
      <p:sp>
        <p:nvSpPr>
          <p:cNvPr id="15" name="Text 12"/>
          <p:cNvSpPr/>
          <p:nvPr/>
        </p:nvSpPr>
        <p:spPr>
          <a:xfrm>
            <a:off x="4343400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520440" y="161848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A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内部运营痛点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3520440" y="2029968"/>
            <a:ext cx="210312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当前TTM均值[X]月，行业标准[Y]月；需求变更率[X%]，返工浪费严重；跨部门等待占比[X%]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080760" y="914400"/>
            <a:ext cx="2468880" cy="2560320"/>
          </a:xfrm>
          <a:prstGeom prst="rect">
            <a:avLst/>
          </a:prstGeom>
          <a:solidFill>
            <a:srgbClr val="F0F5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086600" y="1051560"/>
            <a:ext cx="457200" cy="457200"/>
          </a:xfrm>
          <a:prstGeom prst="ellipse">
            <a:avLst/>
          </a:prstGeom>
          <a:solidFill>
            <a:srgbClr val="417ABE"/>
          </a:solidFill>
          <a:ln/>
        </p:spPr>
      </p:sp>
      <p:sp>
        <p:nvSpPr>
          <p:cNvPr id="20" name="Text 17"/>
          <p:cNvSpPr/>
          <p:nvPr/>
        </p:nvSpPr>
        <p:spPr>
          <a:xfrm>
            <a:off x="7086600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263640" y="161848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A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不变的代价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263640" y="2029968"/>
            <a:ext cx="210312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每晚一月上市损失[X万]；研发人才流失率[X%]；3年内市场份额预计下滑[X%]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94360" y="3749040"/>
            <a:ext cx="7955280" cy="411480"/>
          </a:xfrm>
          <a:prstGeom prst="rect">
            <a:avLst/>
          </a:prstGeom>
          <a:solidFill>
            <a:srgbClr val="417ABE"/>
          </a:solidFill>
          <a:ln/>
        </p:spPr>
      </p:sp>
      <p:sp>
        <p:nvSpPr>
          <p:cNvPr id="24" name="Text 21"/>
          <p:cNvSpPr/>
          <p:nvPr/>
        </p:nvSpPr>
        <p:spPr>
          <a:xfrm>
            <a:off x="594360" y="37490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数据来源：内部研发项目数据/客户满意度调研/行业报告。填写时请将[X]替换为真实数据，无数据的项目缺乏立项说服力。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0916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0"/>
            <a:ext cx="292608" cy="594360"/>
          </a:xfrm>
          <a:prstGeom prst="rect">
            <a:avLst/>
          </a:prstGeom>
          <a:solidFill>
            <a:srgbClr val="417AB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371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17A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模块三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822960"/>
            <a:ext cx="7772400" cy="1371600"/>
          </a:xfrm>
          <a:prstGeom prst="roundRect">
            <a:avLst>
              <a:gd name="adj" fmla="val 6667"/>
            </a:avLst>
          </a:prstGeom>
          <a:solidFill>
            <a:srgbClr val="2C5A8E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9326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>
                    <a:alpha val="7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03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117043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变革就绪度评估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85800" y="1828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组织准备好了吗？诚实评估，科学应对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2423160"/>
            <a:ext cx="7772400" cy="502920"/>
          </a:xfrm>
          <a:prstGeom prst="roundRect">
            <a:avLst>
              <a:gd name="adj" fmla="val 10909"/>
            </a:avLst>
          </a:prstGeom>
          <a:solidFill>
            <a:srgbClr val="F0F5FA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2423160"/>
            <a:ext cx="64008" cy="502920"/>
          </a:xfrm>
          <a:prstGeom prst="rect">
            <a:avLst/>
          </a:prstGeom>
          <a:solidFill>
            <a:srgbClr val="E8832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4231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六维评估 → 短板识别 → 就绪提升行动</a:t>
            </a:r>
            <a:endParaRPr lang="en-US" sz="1400" dirty="0"/>
          </a:p>
        </p:txBody>
      </p:sp>
      <p:pic>
        <p:nvPicPr>
          <p:cNvPr id="11" name="Image 0" descr="/Users/bring-2/.openclaw/workspace/skills/bringppt/assets/bring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4572000"/>
            <a:ext cx="1005840" cy="30175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0916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0"/>
            <a:ext cx="292608" cy="594360"/>
          </a:xfrm>
          <a:prstGeom prst="rect">
            <a:avLst/>
          </a:prstGeom>
          <a:solidFill>
            <a:srgbClr val="417AB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17A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变革就绪度评估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0" y="137160"/>
            <a:ext cx="2468880" cy="320040"/>
          </a:xfrm>
          <a:prstGeom prst="roundRect">
            <a:avLst>
              <a:gd name="adj" fmla="val 45714"/>
            </a:avLst>
          </a:prstGeom>
          <a:solidFill>
            <a:srgbClr val="E8832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0" y="1371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 · 变革特色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71600" y="42519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8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哪个维度是你们最大的短板？</a:t>
            </a:r>
            <a:endParaRPr lang="en-US" sz="1200" dirty="0"/>
          </a:p>
        </p:txBody>
      </p:sp>
      <p:pic>
        <p:nvPicPr>
          <p:cNvPr id="7" name="Image 0" descr="/Users/bring-2/.openclaw/workspace/skills/bringppt/assets/bring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4572000"/>
            <a:ext cx="1005840" cy="30175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" y="914400"/>
            <a:ext cx="3657600" cy="2606040"/>
          </a:xfrm>
          <a:prstGeom prst="roundRect">
            <a:avLst>
              <a:gd name="adj" fmla="val 2807"/>
            </a:avLst>
          </a:prstGeom>
          <a:solidFill>
            <a:srgbClr val="F0F5FA"/>
          </a:solidFill>
          <a:ln/>
        </p:spPr>
      </p:sp>
      <p:sp>
        <p:nvSpPr>
          <p:cNvPr id="9" name="Shape 6"/>
          <p:cNvSpPr/>
          <p:nvPr/>
        </p:nvSpPr>
        <p:spPr>
          <a:xfrm>
            <a:off x="731520" y="914400"/>
            <a:ext cx="3657600" cy="64008"/>
          </a:xfrm>
          <a:prstGeom prst="rect">
            <a:avLst/>
          </a:prstGeom>
          <a:solidFill>
            <a:srgbClr val="2C5A8E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10515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5A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六维就绪度评分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005840" y="1554480"/>
            <a:ext cx="31089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战略就绪度：4.2/5.0 ✅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领导力就绪度：3.8/5.0 ✅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文化就绪度：2.9/5.0 ⚠️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能力就绪度：3.1/5.0 ⚠️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流程就绪度：3.5/5.0 🟡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员工就绪度：2.7/5.0 🔴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754880" y="914400"/>
            <a:ext cx="3657600" cy="2606040"/>
          </a:xfrm>
          <a:prstGeom prst="roundRect">
            <a:avLst>
              <a:gd name="adj" fmla="val 2807"/>
            </a:avLst>
          </a:prstGeom>
          <a:solidFill>
            <a:srgbClr val="F0F5FA"/>
          </a:solidFill>
          <a:ln/>
        </p:spPr>
      </p:sp>
      <p:sp>
        <p:nvSpPr>
          <p:cNvPr id="13" name="Shape 10"/>
          <p:cNvSpPr/>
          <p:nvPr/>
        </p:nvSpPr>
        <p:spPr>
          <a:xfrm>
            <a:off x="4754880" y="914400"/>
            <a:ext cx="3657600" cy="64008"/>
          </a:xfrm>
          <a:prstGeom prst="rect">
            <a:avLst/>
          </a:prstGeom>
          <a:solidFill>
            <a:srgbClr val="E8832A"/>
          </a:solidFill>
          <a:ln/>
        </p:spPr>
      </p:sp>
      <p:sp>
        <p:nvSpPr>
          <p:cNvPr id="14" name="Text 11"/>
          <p:cNvSpPr/>
          <p:nvPr/>
        </p:nvSpPr>
        <p:spPr>
          <a:xfrm>
            <a:off x="4754880" y="10515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8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低分维度应对计划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5029200" y="1554480"/>
            <a:ext cx="31089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文化(2.9)：中层行为示范培训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员工(2.7)：2周内全员宣导覆盖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能力(3.1)：4周完成技能缺口分析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评估方法：访谈6人+问卷32人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31520" y="37033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5A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就绪度评估报告完整版见附件。评估结果将作为变革管理策略（第11章）的输入依据。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0916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0"/>
            <a:ext cx="292608" cy="594360"/>
          </a:xfrm>
          <a:prstGeom prst="rect">
            <a:avLst/>
          </a:prstGeom>
          <a:solidFill>
            <a:srgbClr val="417AB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371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17A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模块四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822960"/>
            <a:ext cx="7772400" cy="1371600"/>
          </a:xfrm>
          <a:prstGeom prst="roundRect">
            <a:avLst>
              <a:gd name="adj" fmla="val 6667"/>
            </a:avLst>
          </a:prstGeom>
          <a:solidFill>
            <a:srgbClr val="2C5A8E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9326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>
                    <a:alpha val="7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04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117043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项目范围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85800" y="1828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做什么，不做什么，后续阶段做什么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2423160"/>
            <a:ext cx="7772400" cy="502920"/>
          </a:xfrm>
          <a:prstGeom prst="roundRect">
            <a:avLst>
              <a:gd name="adj" fmla="val 10909"/>
            </a:avLst>
          </a:prstGeom>
          <a:solidFill>
            <a:srgbClr val="F0F5FA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2423160"/>
            <a:ext cx="64008" cy="502920"/>
          </a:xfrm>
          <a:prstGeom prst="rect">
            <a:avLst/>
          </a:prstGeom>
          <a:solidFill>
            <a:srgbClr val="E8832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4231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明确边界 = 防止范围蔓延的第一道防线</a:t>
            </a:r>
            <a:endParaRPr lang="en-US" sz="1400" dirty="0"/>
          </a:p>
        </p:txBody>
      </p:sp>
      <p:pic>
        <p:nvPicPr>
          <p:cNvPr id="11" name="Image 0" descr="/Users/bring-2/.openclaw/workspace/skills/bringppt/assets/bring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4572000"/>
            <a:ext cx="1005840" cy="30175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0916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0"/>
            <a:ext cx="292608" cy="594360"/>
          </a:xfrm>
          <a:prstGeom prst="rect">
            <a:avLst/>
          </a:prstGeom>
          <a:solidFill>
            <a:srgbClr val="417AB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17A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项目范围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808976" y="137160"/>
            <a:ext cx="1060704" cy="320040"/>
          </a:xfrm>
          <a:prstGeom prst="roundRect">
            <a:avLst>
              <a:gd name="adj" fmla="val 45714"/>
            </a:avLst>
          </a:prstGeom>
          <a:solidFill>
            <a:srgbClr val="2C5A8E"/>
          </a:solidFill>
          <a:ln/>
        </p:spPr>
      </p:sp>
      <p:sp>
        <p:nvSpPr>
          <p:cNvPr id="5" name="Text 3"/>
          <p:cNvSpPr/>
          <p:nvPr/>
        </p:nvSpPr>
        <p:spPr>
          <a:xfrm>
            <a:off x="7808976" y="137160"/>
            <a:ext cx="106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第四章</a:t>
            </a:r>
            <a:endParaRPr lang="en-US" sz="1200" dirty="0"/>
          </a:p>
        </p:txBody>
      </p:sp>
      <p:pic>
        <p:nvPicPr>
          <p:cNvPr id="6" name="Image 0" descr="/Users/bring-2/.openclaw/workspace/skills/bringppt/assets/bring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4572000"/>
            <a:ext cx="1005840" cy="3017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" y="914400"/>
            <a:ext cx="1771650" cy="640080"/>
          </a:xfrm>
          <a:prstGeom prst="roundRect">
            <a:avLst>
              <a:gd name="adj" fmla="val 8571"/>
            </a:avLst>
          </a:prstGeom>
          <a:solidFill>
            <a:srgbClr val="F0F5FA"/>
          </a:solidFill>
          <a:ln w="6350">
            <a:solidFill>
              <a:srgbClr val="D0D8E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" y="960120"/>
            <a:ext cx="17716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变革前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77240" y="1161288"/>
            <a:ext cx="15887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瀑布式研发流程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461897" y="1600200"/>
            <a:ext cx="219456" cy="228600"/>
          </a:xfrm>
          <a:prstGeom prst="downArrow">
            <a:avLst/>
          </a:prstGeom>
          <a:solidFill>
            <a:srgbClr val="417ABE"/>
          </a:solidFill>
          <a:ln/>
        </p:spPr>
      </p:sp>
      <p:sp>
        <p:nvSpPr>
          <p:cNvPr id="11" name="Shape 8"/>
          <p:cNvSpPr/>
          <p:nvPr/>
        </p:nvSpPr>
        <p:spPr>
          <a:xfrm>
            <a:off x="685800" y="1874520"/>
            <a:ext cx="1771650" cy="1463040"/>
          </a:xfrm>
          <a:prstGeom prst="roundRect">
            <a:avLst>
              <a:gd name="adj" fmla="val 3750"/>
            </a:avLst>
          </a:prstGeom>
          <a:solidFill>
            <a:srgbClr val="2C5A8E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" y="1920240"/>
            <a:ext cx="17716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变革后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77240" y="2121408"/>
            <a:ext cx="158877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IPD阶段门控流程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2475738" y="2532888"/>
            <a:ext cx="192024" cy="146304"/>
          </a:xfrm>
          <a:prstGeom prst="rightArrow">
            <a:avLst/>
          </a:prstGeom>
          <a:solidFill>
            <a:srgbClr val="E8832A"/>
          </a:solidFill>
          <a:ln/>
        </p:spPr>
      </p:sp>
      <p:sp>
        <p:nvSpPr>
          <p:cNvPr id="15" name="Shape 12"/>
          <p:cNvSpPr/>
          <p:nvPr/>
        </p:nvSpPr>
        <p:spPr>
          <a:xfrm>
            <a:off x="2686050" y="914400"/>
            <a:ext cx="1771650" cy="640080"/>
          </a:xfrm>
          <a:prstGeom prst="roundRect">
            <a:avLst>
              <a:gd name="adj" fmla="val 8571"/>
            </a:avLst>
          </a:prstGeom>
          <a:solidFill>
            <a:srgbClr val="F0F5FA"/>
          </a:solidFill>
          <a:ln w="6350">
            <a:solidFill>
              <a:srgbClr val="D0D8E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686050" y="960120"/>
            <a:ext cx="17716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变革前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2777490" y="1161288"/>
            <a:ext cx="15887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分散立项评审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3462147" y="1600200"/>
            <a:ext cx="219456" cy="228600"/>
          </a:xfrm>
          <a:prstGeom prst="downArrow">
            <a:avLst/>
          </a:prstGeom>
          <a:solidFill>
            <a:srgbClr val="417ABE"/>
          </a:solidFill>
          <a:ln/>
        </p:spPr>
      </p:sp>
      <p:sp>
        <p:nvSpPr>
          <p:cNvPr id="19" name="Shape 16"/>
          <p:cNvSpPr/>
          <p:nvPr/>
        </p:nvSpPr>
        <p:spPr>
          <a:xfrm>
            <a:off x="2686050" y="1874520"/>
            <a:ext cx="1771650" cy="1463040"/>
          </a:xfrm>
          <a:prstGeom prst="roundRect">
            <a:avLst>
              <a:gd name="adj" fmla="val 3750"/>
            </a:avLst>
          </a:prstGeom>
          <a:solidFill>
            <a:srgbClr val="417ABE"/>
          </a:solidFill>
          <a:ln/>
        </p:spPr>
      </p:sp>
      <p:sp>
        <p:nvSpPr>
          <p:cNvPr id="20" name="Text 17"/>
          <p:cNvSpPr/>
          <p:nvPr/>
        </p:nvSpPr>
        <p:spPr>
          <a:xfrm>
            <a:off x="2686050" y="1920240"/>
            <a:ext cx="17716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变革后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2777490" y="2121408"/>
            <a:ext cx="158877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IPMT决策机制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4475988" y="2532888"/>
            <a:ext cx="192024" cy="146304"/>
          </a:xfrm>
          <a:prstGeom prst="rightArrow">
            <a:avLst/>
          </a:prstGeom>
          <a:solidFill>
            <a:srgbClr val="E8832A"/>
          </a:solidFill>
          <a:ln/>
        </p:spPr>
      </p:sp>
      <p:sp>
        <p:nvSpPr>
          <p:cNvPr id="23" name="Shape 20"/>
          <p:cNvSpPr/>
          <p:nvPr/>
        </p:nvSpPr>
        <p:spPr>
          <a:xfrm>
            <a:off x="4686300" y="914400"/>
            <a:ext cx="1771650" cy="640080"/>
          </a:xfrm>
          <a:prstGeom prst="roundRect">
            <a:avLst>
              <a:gd name="adj" fmla="val 8571"/>
            </a:avLst>
          </a:prstGeom>
          <a:solidFill>
            <a:srgbClr val="F0F5FA"/>
          </a:solidFill>
          <a:ln w="6350">
            <a:solidFill>
              <a:srgbClr val="D0D8E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686300" y="960120"/>
            <a:ext cx="17716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变革前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777740" y="1161288"/>
            <a:ext cx="15887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研发市场各自为政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5462397" y="1600200"/>
            <a:ext cx="219456" cy="228600"/>
          </a:xfrm>
          <a:prstGeom prst="downArrow">
            <a:avLst/>
          </a:prstGeom>
          <a:solidFill>
            <a:srgbClr val="417ABE"/>
          </a:solidFill>
          <a:ln/>
        </p:spPr>
      </p:sp>
      <p:sp>
        <p:nvSpPr>
          <p:cNvPr id="27" name="Shape 24"/>
          <p:cNvSpPr/>
          <p:nvPr/>
        </p:nvSpPr>
        <p:spPr>
          <a:xfrm>
            <a:off x="4686300" y="1874520"/>
            <a:ext cx="1771650" cy="1463040"/>
          </a:xfrm>
          <a:prstGeom prst="roundRect">
            <a:avLst>
              <a:gd name="adj" fmla="val 3750"/>
            </a:avLst>
          </a:prstGeom>
          <a:solidFill>
            <a:srgbClr val="27AE60"/>
          </a:solidFill>
          <a:ln/>
        </p:spPr>
      </p:sp>
      <p:sp>
        <p:nvSpPr>
          <p:cNvPr id="28" name="Text 25"/>
          <p:cNvSpPr/>
          <p:nvPr/>
        </p:nvSpPr>
        <p:spPr>
          <a:xfrm>
            <a:off x="4686300" y="1920240"/>
            <a:ext cx="17716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变革后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4777740" y="2121408"/>
            <a:ext cx="158877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PDT跨职能协作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6476238" y="2532888"/>
            <a:ext cx="192024" cy="146304"/>
          </a:xfrm>
          <a:prstGeom prst="rightArrow">
            <a:avLst/>
          </a:prstGeom>
          <a:solidFill>
            <a:srgbClr val="E8832A"/>
          </a:solidFill>
          <a:ln/>
        </p:spPr>
      </p:sp>
      <p:sp>
        <p:nvSpPr>
          <p:cNvPr id="31" name="Shape 28"/>
          <p:cNvSpPr/>
          <p:nvPr/>
        </p:nvSpPr>
        <p:spPr>
          <a:xfrm>
            <a:off x="6686550" y="914400"/>
            <a:ext cx="1771650" cy="640080"/>
          </a:xfrm>
          <a:prstGeom prst="roundRect">
            <a:avLst>
              <a:gd name="adj" fmla="val 8571"/>
            </a:avLst>
          </a:prstGeom>
          <a:solidFill>
            <a:srgbClr val="F0F5FA"/>
          </a:solidFill>
          <a:ln w="6350">
            <a:solidFill>
              <a:srgbClr val="D0D8E4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686550" y="960120"/>
            <a:ext cx="17716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变革前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6777990" y="1161288"/>
            <a:ext cx="15887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无量化研发KPI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7462647" y="1600200"/>
            <a:ext cx="219456" cy="228600"/>
          </a:xfrm>
          <a:prstGeom prst="downArrow">
            <a:avLst/>
          </a:prstGeom>
          <a:solidFill>
            <a:srgbClr val="417ABE"/>
          </a:solidFill>
          <a:ln/>
        </p:spPr>
      </p:sp>
      <p:sp>
        <p:nvSpPr>
          <p:cNvPr id="35" name="Shape 32"/>
          <p:cNvSpPr/>
          <p:nvPr/>
        </p:nvSpPr>
        <p:spPr>
          <a:xfrm>
            <a:off x="6686550" y="1874520"/>
            <a:ext cx="1771650" cy="1463040"/>
          </a:xfrm>
          <a:prstGeom prst="roundRect">
            <a:avLst>
              <a:gd name="adj" fmla="val 3750"/>
            </a:avLst>
          </a:prstGeom>
          <a:solidFill>
            <a:srgbClr val="E8832A"/>
          </a:solidFill>
          <a:ln/>
        </p:spPr>
      </p:sp>
      <p:sp>
        <p:nvSpPr>
          <p:cNvPr id="36" name="Text 33"/>
          <p:cNvSpPr/>
          <p:nvPr/>
        </p:nvSpPr>
        <p:spPr>
          <a:xfrm>
            <a:off x="6686550" y="1920240"/>
            <a:ext cx="17716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变革后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6777990" y="2121408"/>
            <a:ext cx="158877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TTM/DFQ/ROI指标体系</a:t>
            </a:r>
            <a:endParaRPr lang="en-US" sz="1500" dirty="0"/>
          </a:p>
        </p:txBody>
      </p:sp>
      <p:sp>
        <p:nvSpPr>
          <p:cNvPr id="38" name="Shape 35"/>
          <p:cNvSpPr/>
          <p:nvPr/>
        </p:nvSpPr>
        <p:spPr>
          <a:xfrm>
            <a:off x="685800" y="3520440"/>
            <a:ext cx="7772400" cy="384048"/>
          </a:xfrm>
          <a:prstGeom prst="roundRect">
            <a:avLst>
              <a:gd name="adj" fmla="val 14286"/>
            </a:avLst>
          </a:prstGeom>
          <a:solidFill>
            <a:srgbClr val="2C5A8E"/>
          </a:solidFill>
          <a:ln/>
        </p:spPr>
      </p:sp>
      <p:sp>
        <p:nvSpPr>
          <p:cNvPr id="39" name="Text 36"/>
          <p:cNvSpPr/>
          <p:nvPr/>
        </p:nvSpPr>
        <p:spPr>
          <a:xfrm>
            <a:off x="685800" y="352044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 Scope：研发流程/决策机制/协作模式/KPI体系。Out of Scope：IT系统开发、薪酬激励调整、海外业务（后续阶段或另立项）。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0916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0"/>
            <a:ext cx="292608" cy="594360"/>
          </a:xfrm>
          <a:prstGeom prst="rect">
            <a:avLst/>
          </a:prstGeom>
          <a:solidFill>
            <a:srgbClr val="417AB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371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17A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模块五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822960"/>
            <a:ext cx="7772400" cy="1371600"/>
          </a:xfrm>
          <a:prstGeom prst="roundRect">
            <a:avLst>
              <a:gd name="adj" fmla="val 6667"/>
            </a:avLst>
          </a:prstGeom>
          <a:solidFill>
            <a:srgbClr val="2C5A8E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9326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>
                    <a:alpha val="7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05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117043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业务目标与成功标准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85800" y="1828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如何定义变革成功？SMART指标，不模糊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2423160"/>
            <a:ext cx="7772400" cy="502920"/>
          </a:xfrm>
          <a:prstGeom prst="roundRect">
            <a:avLst>
              <a:gd name="adj" fmla="val 10909"/>
            </a:avLst>
          </a:prstGeom>
          <a:solidFill>
            <a:srgbClr val="F0F5FA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2423160"/>
            <a:ext cx="64008" cy="502920"/>
          </a:xfrm>
          <a:prstGeom prst="rect">
            <a:avLst/>
          </a:prstGeom>
          <a:solidFill>
            <a:srgbClr val="E8832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4231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 → 目标 → 测量方法 → 时间节点</a:t>
            </a:r>
            <a:endParaRPr lang="en-US" sz="1400" dirty="0"/>
          </a:p>
        </p:txBody>
      </p:sp>
      <p:pic>
        <p:nvPicPr>
          <p:cNvPr id="11" name="Image 0" descr="/Users/bring-2/.openclaw/workspace/skills/bringppt/assets/bring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4572000"/>
            <a:ext cx="1005840" cy="30175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0916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0"/>
            <a:ext cx="292608" cy="594360"/>
          </a:xfrm>
          <a:prstGeom prst="rect">
            <a:avLst/>
          </a:prstGeom>
          <a:solidFill>
            <a:srgbClr val="417AB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17A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 业务目标与成功标准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808976" y="137160"/>
            <a:ext cx="1060704" cy="320040"/>
          </a:xfrm>
          <a:prstGeom prst="roundRect">
            <a:avLst>
              <a:gd name="adj" fmla="val 45714"/>
            </a:avLst>
          </a:prstGeom>
          <a:solidFill>
            <a:srgbClr val="2C5A8E"/>
          </a:solidFill>
          <a:ln/>
        </p:spPr>
      </p:sp>
      <p:sp>
        <p:nvSpPr>
          <p:cNvPr id="5" name="Text 3"/>
          <p:cNvSpPr/>
          <p:nvPr/>
        </p:nvSpPr>
        <p:spPr>
          <a:xfrm>
            <a:off x="7808976" y="137160"/>
            <a:ext cx="106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第五章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71600" y="42519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8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6个月后你怎么知道变革在正轨上？</a:t>
            </a:r>
            <a:endParaRPr lang="en-US" sz="1200" dirty="0"/>
          </a:p>
        </p:txBody>
      </p:sp>
      <p:pic>
        <p:nvPicPr>
          <p:cNvPr id="7" name="Image 0" descr="/Users/bring-2/.openclaw/workspace/skills/bringppt/assets/bring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4572000"/>
            <a:ext cx="1005840" cy="301752"/>
          </a:xfrm>
          <a:prstGeom prst="rect">
            <a:avLst/>
          </a:prstGeom>
        </p:spPr>
      </p:pic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914400"/>
          <a:ext cx="77724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554480"/>
                <a:gridCol w="1554480"/>
                <a:gridCol w="1554480"/>
                <a:gridCol w="155448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目标维度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KPI指标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基线值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目标值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达成时间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8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产品速度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产品上市周期TTM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18个月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12个月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2027年Q4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研发质量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首次提交合格率DFQ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65%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85%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2027年Q2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决策效率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立项评审周期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45天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15天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2026年Q4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员工采纳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IPD流程采纳率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0%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≥90%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2027年Q2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客户价值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客户满意度NPS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+18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+35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2027年Q4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685800" y="3831336"/>
            <a:ext cx="7772400" cy="384048"/>
          </a:xfrm>
          <a:prstGeom prst="roundRect">
            <a:avLst>
              <a:gd name="adj" fmla="val 14286"/>
            </a:avLst>
          </a:prstGeom>
          <a:solidFill>
            <a:srgbClr val="2C5A8E"/>
          </a:solidFill>
          <a:ln/>
        </p:spPr>
      </p:sp>
      <p:sp>
        <p:nvSpPr>
          <p:cNvPr id="10" name="Text 6"/>
          <p:cNvSpPr/>
          <p:nvPr/>
        </p:nvSpPr>
        <p:spPr>
          <a:xfrm>
            <a:off x="685800" y="383133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所有KPI均有明确基线值（2024年数据），目标值经业务负责人确认。采纳率通过季度问卷+系统日志双重验证。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0916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0"/>
            <a:ext cx="292608" cy="594360"/>
          </a:xfrm>
          <a:prstGeom prst="rect">
            <a:avLst/>
          </a:prstGeom>
          <a:solidFill>
            <a:srgbClr val="417AB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371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17A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模块六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822960"/>
            <a:ext cx="7772400" cy="1371600"/>
          </a:xfrm>
          <a:prstGeom prst="roundRect">
            <a:avLst>
              <a:gd name="adj" fmla="val 6667"/>
            </a:avLst>
          </a:prstGeom>
          <a:solidFill>
            <a:srgbClr val="2C5A8E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9326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>
                    <a:alpha val="7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06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117043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利益关系人分析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85800" y="1828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识别关键干系人，读懂变革阻力地图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2423160"/>
            <a:ext cx="7772400" cy="502920"/>
          </a:xfrm>
          <a:prstGeom prst="roundRect">
            <a:avLst>
              <a:gd name="adj" fmla="val 10909"/>
            </a:avLst>
          </a:prstGeom>
          <a:solidFill>
            <a:srgbClr val="F0F5FA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2423160"/>
            <a:ext cx="64008" cy="502920"/>
          </a:xfrm>
          <a:prstGeom prst="rect">
            <a:avLst/>
          </a:prstGeom>
          <a:solidFill>
            <a:srgbClr val="E8832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4231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影响力 × 支持度 × 变革阻力类型</a:t>
            </a:r>
            <a:endParaRPr lang="en-US" sz="1400" dirty="0"/>
          </a:p>
        </p:txBody>
      </p:sp>
      <p:pic>
        <p:nvPicPr>
          <p:cNvPr id="11" name="Image 0" descr="/Users/bring-2/.openclaw/workspace/skills/bringppt/assets/bring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4572000"/>
            <a:ext cx="1005840" cy="30175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0916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0"/>
            <a:ext cx="292608" cy="594360"/>
          </a:xfrm>
          <a:prstGeom prst="rect">
            <a:avLst/>
          </a:prstGeom>
          <a:solidFill>
            <a:srgbClr val="417AB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17A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 利益关系人分析（含变革阻力）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0" y="137160"/>
            <a:ext cx="2468880" cy="320040"/>
          </a:xfrm>
          <a:prstGeom prst="roundRect">
            <a:avLst>
              <a:gd name="adj" fmla="val 45714"/>
            </a:avLst>
          </a:prstGeom>
          <a:solidFill>
            <a:srgbClr val="E8832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0" y="1371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第六章 · 变革特色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71600" y="42519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8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谁是这次变革中最大的隐性反对者？</a:t>
            </a:r>
            <a:endParaRPr lang="en-US" sz="1200" dirty="0"/>
          </a:p>
        </p:txBody>
      </p:sp>
      <p:pic>
        <p:nvPicPr>
          <p:cNvPr id="7" name="Image 0" descr="/Users/bring-2/.openclaw/workspace/skills/bringppt/assets/bring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4572000"/>
            <a:ext cx="1005840" cy="301752"/>
          </a:xfrm>
          <a:prstGeom prst="rect">
            <a:avLst/>
          </a:prstGeom>
        </p:spPr>
      </p:pic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914400"/>
          <a:ext cx="77724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554480"/>
                <a:gridCol w="1554480"/>
                <a:gridCol w="1554480"/>
                <a:gridCol w="155448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利益关系人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影响力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支持度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阻力类型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参与策略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8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CEO/赞助人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极高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⭐⭐⭐⭐⭐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无阻力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维持可见度，月度汇报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研发VP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⭐⭐⭐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利益阻力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一对一对齐，利益再设计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中层研发主管×15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⭐⭐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利益+能力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专项路演+Champion招募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HR/HRBP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⭐⭐⭐⭐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无明显阻力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合作伙伴，共同设计培训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一线研发工程师×80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⭐⭐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认知阻力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全员宣导，FAQ机制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685800" y="4224528"/>
            <a:ext cx="7772400" cy="384048"/>
          </a:xfrm>
          <a:prstGeom prst="roundRect">
            <a:avLst>
              <a:gd name="adj" fmla="val 14286"/>
            </a:avLst>
          </a:prstGeom>
          <a:solidFill>
            <a:srgbClr val="2C5A8E"/>
          </a:solidFill>
          <a:ln/>
        </p:spPr>
      </p:sp>
      <p:sp>
        <p:nvSpPr>
          <p:cNvPr id="10" name="Text 6"/>
          <p:cNvSpPr/>
          <p:nvPr/>
        </p:nvSpPr>
        <p:spPr>
          <a:xfrm>
            <a:off x="685800" y="422452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最高风险：15名中层研发主管影响力高、支持度低。应对：Week2启动中层专项路演，设计中层在新模式下的价值定位与晋升通道。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0916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0"/>
            <a:ext cx="292608" cy="594360"/>
          </a:xfrm>
          <a:prstGeom prst="rect">
            <a:avLst/>
          </a:prstGeom>
          <a:solidFill>
            <a:srgbClr val="417AB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371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17A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模块七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822960"/>
            <a:ext cx="7772400" cy="1371600"/>
          </a:xfrm>
          <a:prstGeom prst="roundRect">
            <a:avLst>
              <a:gd name="adj" fmla="val 6667"/>
            </a:avLst>
          </a:prstGeom>
          <a:solidFill>
            <a:srgbClr val="2C5A8E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9326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>
                    <a:alpha val="7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07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117043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交付物与里程碑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85800" y="1828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变革五阶段：诊断→设计→试点→推广→固化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2423160"/>
            <a:ext cx="7772400" cy="502920"/>
          </a:xfrm>
          <a:prstGeom prst="roundRect">
            <a:avLst>
              <a:gd name="adj" fmla="val 10909"/>
            </a:avLst>
          </a:prstGeom>
          <a:solidFill>
            <a:srgbClr val="F0F5FA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2423160"/>
            <a:ext cx="64008" cy="502920"/>
          </a:xfrm>
          <a:prstGeom prst="rect">
            <a:avLst/>
          </a:prstGeom>
          <a:solidFill>
            <a:srgbClr val="E8832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4231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变革管理阶段 × DCP节点 × 可检查交付物</a:t>
            </a:r>
            <a:endParaRPr lang="en-US" sz="1400" dirty="0"/>
          </a:p>
        </p:txBody>
      </p:sp>
      <p:pic>
        <p:nvPicPr>
          <p:cNvPr id="11" name="Image 0" descr="/Users/bring-2/.openclaw/workspace/skills/bringppt/assets/bring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4572000"/>
            <a:ext cx="1005840" cy="30175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0916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0"/>
            <a:ext cx="292608" cy="594360"/>
          </a:xfrm>
          <a:prstGeom prst="rect">
            <a:avLst/>
          </a:prstGeom>
          <a:solidFill>
            <a:srgbClr val="417AB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17A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 交付物与里程碑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0" y="137160"/>
            <a:ext cx="2468880" cy="320040"/>
          </a:xfrm>
          <a:prstGeom prst="roundRect">
            <a:avLst>
              <a:gd name="adj" fmla="val 45714"/>
            </a:avLst>
          </a:prstGeom>
          <a:solidFill>
            <a:srgbClr val="E8832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0" y="1371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第七章 · 变革特色</a:t>
            </a:r>
            <a:endParaRPr lang="en-US" sz="1200" dirty="0"/>
          </a:p>
        </p:txBody>
      </p:sp>
      <p:pic>
        <p:nvPicPr>
          <p:cNvPr id="6" name="Image 0" descr="/Users/bring-2/.openclaw/workspace/skills/bringppt/assets/bring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4572000"/>
            <a:ext cx="1005840" cy="3017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" y="914400"/>
            <a:ext cx="1261872" cy="365760"/>
          </a:xfrm>
          <a:prstGeom prst="roundRect">
            <a:avLst>
              <a:gd name="adj" fmla="val 15000"/>
            </a:avLst>
          </a:prstGeom>
          <a:solidFill>
            <a:srgbClr val="2C5A8E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914400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85800" y="1280160"/>
            <a:ext cx="1261872" cy="2194560"/>
          </a:xfrm>
          <a:prstGeom prst="roundRect">
            <a:avLst>
              <a:gd name="adj" fmla="val 4348"/>
            </a:avLst>
          </a:prstGeom>
          <a:solidFill>
            <a:srgbClr val="F0F5FA"/>
          </a:solidFill>
          <a:ln w="6350">
            <a:solidFill>
              <a:srgbClr val="D0D8E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1353312"/>
            <a:ext cx="1078992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就绪度评估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干系人地图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范围确认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DCP0立项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993392" y="2084832"/>
            <a:ext cx="274320" cy="219456"/>
          </a:xfrm>
          <a:prstGeom prst="chevron">
            <a:avLst/>
          </a:prstGeom>
          <a:solidFill>
            <a:srgbClr val="417ABE"/>
          </a:solidFill>
          <a:ln/>
        </p:spPr>
      </p:sp>
      <p:sp>
        <p:nvSpPr>
          <p:cNvPr id="12" name="Shape 9"/>
          <p:cNvSpPr/>
          <p:nvPr/>
        </p:nvSpPr>
        <p:spPr>
          <a:xfrm>
            <a:off x="2313432" y="914400"/>
            <a:ext cx="1261872" cy="365760"/>
          </a:xfrm>
          <a:prstGeom prst="roundRect">
            <a:avLst>
              <a:gd name="adj" fmla="val 15000"/>
            </a:avLst>
          </a:prstGeom>
          <a:solidFill>
            <a:srgbClr val="417ABE"/>
          </a:solidFill>
          <a:ln/>
        </p:spPr>
      </p:sp>
      <p:sp>
        <p:nvSpPr>
          <p:cNvPr id="13" name="Text 10"/>
          <p:cNvSpPr/>
          <p:nvPr/>
        </p:nvSpPr>
        <p:spPr>
          <a:xfrm>
            <a:off x="2313432" y="914400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2313432" y="1280160"/>
            <a:ext cx="1261872" cy="2194560"/>
          </a:xfrm>
          <a:prstGeom prst="roundRect">
            <a:avLst>
              <a:gd name="adj" fmla="val 4348"/>
            </a:avLst>
          </a:prstGeom>
          <a:solidFill>
            <a:srgbClr val="F0F5FA"/>
          </a:solidFill>
          <a:ln w="6350">
            <a:solidFill>
              <a:srgbClr val="D0D8E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404872" y="1353312"/>
            <a:ext cx="1078992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Charter批准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变革路标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沟通计划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DCP1审批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621024" y="2084832"/>
            <a:ext cx="274320" cy="219456"/>
          </a:xfrm>
          <a:prstGeom prst="chevron">
            <a:avLst/>
          </a:prstGeom>
          <a:solidFill>
            <a:srgbClr val="417ABE"/>
          </a:solidFill>
          <a:ln/>
        </p:spPr>
      </p:sp>
      <p:sp>
        <p:nvSpPr>
          <p:cNvPr id="17" name="Shape 14"/>
          <p:cNvSpPr/>
          <p:nvPr/>
        </p:nvSpPr>
        <p:spPr>
          <a:xfrm>
            <a:off x="3941064" y="914400"/>
            <a:ext cx="1261872" cy="365760"/>
          </a:xfrm>
          <a:prstGeom prst="roundRect">
            <a:avLst>
              <a:gd name="adj" fmla="val 15000"/>
            </a:avLst>
          </a:prstGeom>
          <a:solidFill>
            <a:srgbClr val="27AE60"/>
          </a:solidFill>
          <a:ln/>
        </p:spPr>
      </p:sp>
      <p:sp>
        <p:nvSpPr>
          <p:cNvPr id="18" name="Text 15"/>
          <p:cNvSpPr/>
          <p:nvPr/>
        </p:nvSpPr>
        <p:spPr>
          <a:xfrm>
            <a:off x="3941064" y="914400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3941064" y="1280160"/>
            <a:ext cx="1261872" cy="2194560"/>
          </a:xfrm>
          <a:prstGeom prst="roundRect">
            <a:avLst>
              <a:gd name="adj" fmla="val 4348"/>
            </a:avLst>
          </a:prstGeom>
          <a:solidFill>
            <a:srgbClr val="F0F5FA"/>
          </a:solidFill>
          <a:ln w="6350">
            <a:solidFill>
              <a:srgbClr val="D0D8E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032504" y="1353312"/>
            <a:ext cx="1078992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试点启动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首次运行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反馈报告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方案调整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248656" y="2084832"/>
            <a:ext cx="274320" cy="219456"/>
          </a:xfrm>
          <a:prstGeom prst="chevron">
            <a:avLst/>
          </a:prstGeom>
          <a:solidFill>
            <a:srgbClr val="417ABE"/>
          </a:solidFill>
          <a:ln/>
        </p:spPr>
      </p:sp>
      <p:sp>
        <p:nvSpPr>
          <p:cNvPr id="22" name="Shape 19"/>
          <p:cNvSpPr/>
          <p:nvPr/>
        </p:nvSpPr>
        <p:spPr>
          <a:xfrm>
            <a:off x="5568696" y="914400"/>
            <a:ext cx="1261872" cy="365760"/>
          </a:xfrm>
          <a:prstGeom prst="roundRect">
            <a:avLst>
              <a:gd name="adj" fmla="val 15000"/>
            </a:avLst>
          </a:prstGeom>
          <a:solidFill>
            <a:srgbClr val="E8832A"/>
          </a:solidFill>
          <a:ln/>
        </p:spPr>
      </p:sp>
      <p:sp>
        <p:nvSpPr>
          <p:cNvPr id="23" name="Text 20"/>
          <p:cNvSpPr/>
          <p:nvPr/>
        </p:nvSpPr>
        <p:spPr>
          <a:xfrm>
            <a:off x="5568696" y="914400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推广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5568696" y="1280160"/>
            <a:ext cx="1261872" cy="2194560"/>
          </a:xfrm>
          <a:prstGeom prst="roundRect">
            <a:avLst>
              <a:gd name="adj" fmla="val 4348"/>
            </a:avLst>
          </a:prstGeom>
          <a:solidFill>
            <a:srgbClr val="F0F5FA"/>
          </a:solidFill>
          <a:ln w="6350">
            <a:solidFill>
              <a:srgbClr val="D0D8E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660136" y="1353312"/>
            <a:ext cx="1078992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全员培训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Champion运营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DCP2评审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采纳月报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6876288" y="2084832"/>
            <a:ext cx="274320" cy="219456"/>
          </a:xfrm>
          <a:prstGeom prst="chevron">
            <a:avLst/>
          </a:prstGeom>
          <a:solidFill>
            <a:srgbClr val="417ABE"/>
          </a:solidFill>
          <a:ln/>
        </p:spPr>
      </p:sp>
      <p:sp>
        <p:nvSpPr>
          <p:cNvPr id="27" name="Shape 24"/>
          <p:cNvSpPr/>
          <p:nvPr/>
        </p:nvSpPr>
        <p:spPr>
          <a:xfrm>
            <a:off x="7196328" y="914400"/>
            <a:ext cx="1261872" cy="365760"/>
          </a:xfrm>
          <a:prstGeom prst="roundRect">
            <a:avLst>
              <a:gd name="adj" fmla="val 15000"/>
            </a:avLst>
          </a:prstGeom>
          <a:solidFill>
            <a:srgbClr val="C0392B"/>
          </a:solidFill>
          <a:ln/>
        </p:spPr>
      </p:sp>
      <p:sp>
        <p:nvSpPr>
          <p:cNvPr id="28" name="Text 25"/>
          <p:cNvSpPr/>
          <p:nvPr/>
        </p:nvSpPr>
        <p:spPr>
          <a:xfrm>
            <a:off x="7196328" y="914400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固化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7196328" y="1280160"/>
            <a:ext cx="1261872" cy="2194560"/>
          </a:xfrm>
          <a:prstGeom prst="roundRect">
            <a:avLst>
              <a:gd name="adj" fmla="val 4348"/>
            </a:avLst>
          </a:prstGeom>
          <a:solidFill>
            <a:srgbClr val="F0F5FA"/>
          </a:solidFill>
          <a:ln w="6350">
            <a:solidFill>
              <a:srgbClr val="D0D8E4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287768" y="1353312"/>
            <a:ext cx="1078992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制度更新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KPI验收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DCP3结项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经验沉淀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0916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0"/>
            <a:ext cx="292608" cy="594360"/>
          </a:xfrm>
          <a:prstGeom prst="rect">
            <a:avLst/>
          </a:prstGeom>
          <a:solidFill>
            <a:srgbClr val="417AB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371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17A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模块八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822960"/>
            <a:ext cx="7772400" cy="1371600"/>
          </a:xfrm>
          <a:prstGeom prst="roundRect">
            <a:avLst>
              <a:gd name="adj" fmla="val 6667"/>
            </a:avLst>
          </a:prstGeom>
          <a:solidFill>
            <a:srgbClr val="2C5A8E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9326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>
                    <a:alpha val="7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08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117043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资源需求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85800" y="1828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说清楚需要多少，才能获得多少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2423160"/>
            <a:ext cx="7772400" cy="502920"/>
          </a:xfrm>
          <a:prstGeom prst="roundRect">
            <a:avLst>
              <a:gd name="adj" fmla="val 10909"/>
            </a:avLst>
          </a:prstGeom>
          <a:solidFill>
            <a:srgbClr val="F0F5FA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2423160"/>
            <a:ext cx="64008" cy="502920"/>
          </a:xfrm>
          <a:prstGeom prst="rect">
            <a:avLst/>
          </a:prstGeom>
          <a:solidFill>
            <a:srgbClr val="E8832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4231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人力需求 × 预算明细 × 资源确认状态</a:t>
            </a:r>
            <a:endParaRPr lang="en-US" sz="1400" dirty="0"/>
          </a:p>
        </p:txBody>
      </p:sp>
      <p:pic>
        <p:nvPicPr>
          <p:cNvPr id="11" name="Image 0" descr="/Users/bring-2/.openclaw/workspace/skills/bringppt/assets/bring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4572000"/>
            <a:ext cx="1005840" cy="30175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0916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0"/>
            <a:ext cx="292608" cy="594360"/>
          </a:xfrm>
          <a:prstGeom prst="rect">
            <a:avLst/>
          </a:prstGeom>
          <a:solidFill>
            <a:srgbClr val="417AB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17A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 资源需求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808976" y="137160"/>
            <a:ext cx="1060704" cy="320040"/>
          </a:xfrm>
          <a:prstGeom prst="roundRect">
            <a:avLst>
              <a:gd name="adj" fmla="val 45714"/>
            </a:avLst>
          </a:prstGeom>
          <a:solidFill>
            <a:srgbClr val="2C5A8E"/>
          </a:solidFill>
          <a:ln/>
        </p:spPr>
      </p:sp>
      <p:sp>
        <p:nvSpPr>
          <p:cNvPr id="5" name="Text 3"/>
          <p:cNvSpPr/>
          <p:nvPr/>
        </p:nvSpPr>
        <p:spPr>
          <a:xfrm>
            <a:off x="7808976" y="137160"/>
            <a:ext cx="106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第八章</a:t>
            </a:r>
            <a:endParaRPr lang="en-US" sz="1200" dirty="0"/>
          </a:p>
        </p:txBody>
      </p:sp>
      <p:pic>
        <p:nvPicPr>
          <p:cNvPr id="6" name="Image 0" descr="/Users/bring-2/.openclaw/workspace/skills/bringppt/assets/bring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4572000"/>
            <a:ext cx="1005840" cy="3017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914400"/>
            <a:ext cx="3840480" cy="3200400"/>
          </a:xfrm>
          <a:prstGeom prst="rect">
            <a:avLst/>
          </a:prstGeom>
          <a:solidFill>
            <a:srgbClr val="F0F5FA"/>
          </a:solidFill>
          <a:ln w="6350">
            <a:solidFill>
              <a:srgbClr val="D0D8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" y="914400"/>
            <a:ext cx="3840480" cy="64008"/>
          </a:xfrm>
          <a:prstGeom prst="rect">
            <a:avLst/>
          </a:prstGeom>
          <a:solidFill>
            <a:srgbClr val="417ABE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11887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A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人力资源需求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22960" y="182880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内部：项目经理×1（全职）、变革经理×1（50%）、流程专家×2（全职）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外部：IPD顾问×2+变革管理顾问×1（薄云咨询，共[X]人天）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754880" y="914400"/>
            <a:ext cx="3840480" cy="3200400"/>
          </a:xfrm>
          <a:prstGeom prst="rect">
            <a:avLst/>
          </a:prstGeom>
          <a:solidFill>
            <a:srgbClr val="F0F5FA"/>
          </a:solidFill>
          <a:ln w="6350">
            <a:solidFill>
              <a:srgbClr val="D0D8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914400"/>
            <a:ext cx="3840480" cy="64008"/>
          </a:xfrm>
          <a:prstGeom prst="rect">
            <a:avLst/>
          </a:prstGeom>
          <a:solidFill>
            <a:srgbClr val="417ABE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0" y="11887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A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预算明细（[X]万元）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5029200" y="182880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咨询费：[XX]万 | 内部人力：[XX]万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培训工作坊：[X]万 | 系统适配：[X]万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差旅运营：[X]万 | 应急储备：[X]万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0916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0"/>
            <a:ext cx="292608" cy="594360"/>
          </a:xfrm>
          <a:prstGeom prst="rect">
            <a:avLst/>
          </a:prstGeom>
          <a:solidFill>
            <a:srgbClr val="417AB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371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17A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模块九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822960"/>
            <a:ext cx="7772400" cy="1371600"/>
          </a:xfrm>
          <a:prstGeom prst="roundRect">
            <a:avLst>
              <a:gd name="adj" fmla="val 6667"/>
            </a:avLst>
          </a:prstGeom>
          <a:solidFill>
            <a:srgbClr val="2C5A8E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9326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>
                    <a:alpha val="7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09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117043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风险分析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85800" y="1828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诚实面对风险，才是负责任的项目管理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2423160"/>
            <a:ext cx="7772400" cy="502920"/>
          </a:xfrm>
          <a:prstGeom prst="roundRect">
            <a:avLst>
              <a:gd name="adj" fmla="val 10909"/>
            </a:avLst>
          </a:prstGeom>
          <a:solidFill>
            <a:srgbClr val="F0F5FA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2423160"/>
            <a:ext cx="64008" cy="502920"/>
          </a:xfrm>
          <a:prstGeom prst="rect">
            <a:avLst/>
          </a:prstGeom>
          <a:solidFill>
            <a:srgbClr val="E8832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4231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 × 评估 × 应对 × 预警</a:t>
            </a:r>
            <a:endParaRPr lang="en-US" sz="1400" dirty="0"/>
          </a:p>
        </p:txBody>
      </p:sp>
      <p:pic>
        <p:nvPicPr>
          <p:cNvPr id="11" name="Image 0" descr="/Users/bring-2/.openclaw/workspace/skills/bringppt/assets/bring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4572000"/>
            <a:ext cx="1005840" cy="30175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0916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0"/>
            <a:ext cx="292608" cy="594360"/>
          </a:xfrm>
          <a:prstGeom prst="rect">
            <a:avLst/>
          </a:prstGeom>
          <a:solidFill>
            <a:srgbClr val="417AB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17A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 风险分析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808976" y="137160"/>
            <a:ext cx="1060704" cy="320040"/>
          </a:xfrm>
          <a:prstGeom prst="roundRect">
            <a:avLst>
              <a:gd name="adj" fmla="val 45714"/>
            </a:avLst>
          </a:prstGeom>
          <a:solidFill>
            <a:srgbClr val="2C5A8E"/>
          </a:solidFill>
          <a:ln/>
        </p:spPr>
      </p:sp>
      <p:sp>
        <p:nvSpPr>
          <p:cNvPr id="5" name="Text 3"/>
          <p:cNvSpPr/>
          <p:nvPr/>
        </p:nvSpPr>
        <p:spPr>
          <a:xfrm>
            <a:off x="7808976" y="137160"/>
            <a:ext cx="106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第九章</a:t>
            </a:r>
            <a:endParaRPr lang="en-US" sz="1200" dirty="0"/>
          </a:p>
        </p:txBody>
      </p:sp>
      <p:pic>
        <p:nvPicPr>
          <p:cNvPr id="6" name="Image 0" descr="/Users/bring-2/.openclaw/workspace/skills/bringppt/assets/bring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4572000"/>
            <a:ext cx="1005840" cy="301752"/>
          </a:xfrm>
          <a:prstGeom prst="rect">
            <a:avLst/>
          </a:prstGeom>
        </p:spPr>
      </p:pic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914400"/>
          <a:ext cx="77724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554480"/>
                <a:gridCol w="1554480"/>
                <a:gridCol w="1554480"/>
                <a:gridCol w="155448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风险描述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概率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影响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评级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应对措施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8E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中层管理者执行配合度低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🔴极高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Week2启动中层路演；设计中层晋升通道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关键人力与其他项目冲突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🟠高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锁定资源承诺书；与PMO协调优先级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试点调整周期超预期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🟡中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预留4周缓冲；准备轻量化备用方案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IT系统与IPD流程不匹配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🟡中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前4周评估适配性；IT另立项跟踪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推广阶段Champion不到位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🟡中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试点阶段提前培训Champion大使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685800" y="5029200"/>
            <a:ext cx="7772400" cy="384048"/>
          </a:xfrm>
          <a:prstGeom prst="roundRect">
            <a:avLst>
              <a:gd name="adj" fmla="val 14286"/>
            </a:avLst>
          </a:prstGeom>
          <a:solidFill>
            <a:srgbClr val="2C5A8E"/>
          </a:solidFill>
          <a:ln/>
        </p:spPr>
      </p:sp>
      <p:sp>
        <p:nvSpPr>
          <p:cNvPr id="9" name="Text 5"/>
          <p:cNvSpPr/>
          <p:nvPr/>
        </p:nvSpPr>
        <p:spPr>
          <a:xfrm>
            <a:off x="685800" y="502920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最高风险：中层阻力。预警指标：中层月度支持度调研低于3.0分，立即启动赞助人直接干预。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0916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0"/>
            <a:ext cx="292608" cy="594360"/>
          </a:xfrm>
          <a:prstGeom prst="rect">
            <a:avLst/>
          </a:prstGeom>
          <a:solidFill>
            <a:srgbClr val="417AB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371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17A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模块十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822960"/>
            <a:ext cx="7772400" cy="1371600"/>
          </a:xfrm>
          <a:prstGeom prst="roundRect">
            <a:avLst>
              <a:gd name="adj" fmla="val 6667"/>
            </a:avLst>
          </a:prstGeom>
          <a:solidFill>
            <a:srgbClr val="2C5A8E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9326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>
                    <a:alpha val="7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117043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项目组织架构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85800" y="1828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谁负责？权责清晰，才能有效推进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2423160"/>
            <a:ext cx="7772400" cy="502920"/>
          </a:xfrm>
          <a:prstGeom prst="roundRect">
            <a:avLst>
              <a:gd name="adj" fmla="val 10909"/>
            </a:avLst>
          </a:prstGeom>
          <a:solidFill>
            <a:srgbClr val="F0F5FA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2423160"/>
            <a:ext cx="64008" cy="502920"/>
          </a:xfrm>
          <a:prstGeom prst="rect">
            <a:avLst/>
          </a:prstGeom>
          <a:solidFill>
            <a:srgbClr val="E8832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4231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IPMT决策层 × PDT执行层 × 变革管理层</a:t>
            </a:r>
            <a:endParaRPr lang="en-US" sz="1400" dirty="0"/>
          </a:p>
        </p:txBody>
      </p:sp>
      <p:pic>
        <p:nvPicPr>
          <p:cNvPr id="11" name="Image 0" descr="/Users/bring-2/.openclaw/workspace/skills/bringppt/assets/bring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4572000"/>
            <a:ext cx="1005840" cy="30175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0916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0"/>
            <a:ext cx="292608" cy="594360"/>
          </a:xfrm>
          <a:prstGeom prst="rect">
            <a:avLst/>
          </a:prstGeom>
          <a:solidFill>
            <a:srgbClr val="417AB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17A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 项目组织架构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808976" y="137160"/>
            <a:ext cx="1060704" cy="320040"/>
          </a:xfrm>
          <a:prstGeom prst="roundRect">
            <a:avLst>
              <a:gd name="adj" fmla="val 45714"/>
            </a:avLst>
          </a:prstGeom>
          <a:solidFill>
            <a:srgbClr val="2C5A8E"/>
          </a:solidFill>
          <a:ln/>
        </p:spPr>
      </p:sp>
      <p:sp>
        <p:nvSpPr>
          <p:cNvPr id="5" name="Text 3"/>
          <p:cNvSpPr/>
          <p:nvPr/>
        </p:nvSpPr>
        <p:spPr>
          <a:xfrm>
            <a:off x="7808976" y="137160"/>
            <a:ext cx="106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第十章</a:t>
            </a:r>
            <a:endParaRPr lang="en-US" sz="1200" dirty="0"/>
          </a:p>
        </p:txBody>
      </p:sp>
      <p:pic>
        <p:nvPicPr>
          <p:cNvPr id="6" name="Image 0" descr="/Users/bring-2/.openclaw/workspace/skills/bringppt/assets/bring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4572000"/>
            <a:ext cx="1005840" cy="3017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" y="822960"/>
            <a:ext cx="7772400" cy="457200"/>
          </a:xfrm>
          <a:prstGeom prst="roundRect">
            <a:avLst>
              <a:gd name="adj" fmla="val 12000"/>
            </a:avLst>
          </a:prstGeom>
          <a:solidFill>
            <a:srgbClr val="C0392B"/>
          </a:solidFill>
          <a:ln/>
        </p:spPr>
      </p:sp>
      <p:sp>
        <p:nvSpPr>
          <p:cNvPr id="8" name="Text 5"/>
          <p:cNvSpPr/>
          <p:nvPr/>
        </p:nvSpPr>
        <p:spPr>
          <a:xfrm>
            <a:off x="960120" y="82296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85800" y="1463040"/>
            <a:ext cx="7772400" cy="630936"/>
          </a:xfrm>
          <a:prstGeom prst="roundRect">
            <a:avLst>
              <a:gd name="adj" fmla="val 8696"/>
            </a:avLst>
          </a:prstGeom>
          <a:solidFill>
            <a:srgbClr val="F0F5FA"/>
          </a:solidFill>
          <a:ln/>
        </p:spPr>
      </p:sp>
      <p:sp>
        <p:nvSpPr>
          <p:cNvPr id="10" name="Shape 7"/>
          <p:cNvSpPr/>
          <p:nvPr/>
        </p:nvSpPr>
        <p:spPr>
          <a:xfrm>
            <a:off x="685800" y="1463040"/>
            <a:ext cx="64008" cy="630936"/>
          </a:xfrm>
          <a:prstGeom prst="rect">
            <a:avLst/>
          </a:prstGeom>
          <a:solidFill>
            <a:srgbClr val="417ABE"/>
          </a:solidFill>
          <a:ln/>
        </p:spPr>
      </p:sp>
      <p:sp>
        <p:nvSpPr>
          <p:cNvPr id="11" name="Shape 8"/>
          <p:cNvSpPr/>
          <p:nvPr/>
        </p:nvSpPr>
        <p:spPr>
          <a:xfrm>
            <a:off x="914400" y="1517904"/>
            <a:ext cx="969264" cy="237744"/>
          </a:xfrm>
          <a:prstGeom prst="roundRect">
            <a:avLst>
              <a:gd name="adj" fmla="val 61538"/>
            </a:avLst>
          </a:prstGeom>
          <a:solidFill>
            <a:srgbClr val="E8832A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1517904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决策层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020824" y="1481328"/>
            <a:ext cx="6163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IPMT（集成组合管理团队）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14400" y="179222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CEO赞助人+CFO+COO+研发VP。职责：DCP0-3阶段审批、资源优先级决策。每季度正式评审。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462272" y="2112264"/>
            <a:ext cx="219456" cy="182880"/>
          </a:xfrm>
          <a:prstGeom prst="downArrow">
            <a:avLst/>
          </a:prstGeom>
          <a:solidFill>
            <a:srgbClr val="417ABE"/>
          </a:solidFill>
          <a:ln/>
        </p:spPr>
      </p:sp>
      <p:sp>
        <p:nvSpPr>
          <p:cNvPr id="16" name="Shape 13"/>
          <p:cNvSpPr/>
          <p:nvPr/>
        </p:nvSpPr>
        <p:spPr>
          <a:xfrm>
            <a:off x="685800" y="2350008"/>
            <a:ext cx="7772400" cy="630936"/>
          </a:xfrm>
          <a:prstGeom prst="roundRect">
            <a:avLst>
              <a:gd name="adj" fmla="val 8696"/>
            </a:avLst>
          </a:prstGeom>
          <a:solidFill>
            <a:srgbClr val="F0F5FA"/>
          </a:solidFill>
          <a:ln/>
        </p:spPr>
      </p:sp>
      <p:sp>
        <p:nvSpPr>
          <p:cNvPr id="17" name="Shape 14"/>
          <p:cNvSpPr/>
          <p:nvPr/>
        </p:nvSpPr>
        <p:spPr>
          <a:xfrm>
            <a:off x="685800" y="2350008"/>
            <a:ext cx="64008" cy="630936"/>
          </a:xfrm>
          <a:prstGeom prst="rect">
            <a:avLst/>
          </a:prstGeom>
          <a:solidFill>
            <a:srgbClr val="417ABE"/>
          </a:solidFill>
          <a:ln/>
        </p:spPr>
      </p:sp>
      <p:sp>
        <p:nvSpPr>
          <p:cNvPr id="18" name="Shape 15"/>
          <p:cNvSpPr/>
          <p:nvPr/>
        </p:nvSpPr>
        <p:spPr>
          <a:xfrm>
            <a:off x="914400" y="2404872"/>
            <a:ext cx="969264" cy="237744"/>
          </a:xfrm>
          <a:prstGeom prst="roundRect">
            <a:avLst>
              <a:gd name="adj" fmla="val 61538"/>
            </a:avLst>
          </a:prstGeom>
          <a:solidFill>
            <a:srgbClr val="417ABE"/>
          </a:solidFill>
          <a:ln/>
        </p:spPr>
      </p:sp>
      <p:sp>
        <p:nvSpPr>
          <p:cNvPr id="19" name="Text 16"/>
          <p:cNvSpPr/>
          <p:nvPr/>
        </p:nvSpPr>
        <p:spPr>
          <a:xfrm>
            <a:off x="914400" y="2404872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执行层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2020824" y="2368296"/>
            <a:ext cx="6163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PDT（产品开发团队）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914400" y="26791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项目经理（全职）+流程专家×2+各部门联络人。职责：日常执行、交付物生产、每周例会。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462272" y="2999232"/>
            <a:ext cx="219456" cy="182880"/>
          </a:xfrm>
          <a:prstGeom prst="downArrow">
            <a:avLst/>
          </a:prstGeom>
          <a:solidFill>
            <a:srgbClr val="417ABE"/>
          </a:solidFill>
          <a:ln/>
        </p:spPr>
      </p:sp>
      <p:sp>
        <p:nvSpPr>
          <p:cNvPr id="23" name="Shape 20"/>
          <p:cNvSpPr/>
          <p:nvPr/>
        </p:nvSpPr>
        <p:spPr>
          <a:xfrm>
            <a:off x="685800" y="3236976"/>
            <a:ext cx="7772400" cy="630936"/>
          </a:xfrm>
          <a:prstGeom prst="roundRect">
            <a:avLst>
              <a:gd name="adj" fmla="val 8696"/>
            </a:avLst>
          </a:prstGeom>
          <a:solidFill>
            <a:srgbClr val="F0F5FA"/>
          </a:solidFill>
          <a:ln/>
        </p:spPr>
      </p:sp>
      <p:sp>
        <p:nvSpPr>
          <p:cNvPr id="24" name="Shape 21"/>
          <p:cNvSpPr/>
          <p:nvPr/>
        </p:nvSpPr>
        <p:spPr>
          <a:xfrm>
            <a:off x="685800" y="3236976"/>
            <a:ext cx="64008" cy="630936"/>
          </a:xfrm>
          <a:prstGeom prst="rect">
            <a:avLst/>
          </a:prstGeom>
          <a:solidFill>
            <a:srgbClr val="417ABE"/>
          </a:solidFill>
          <a:ln/>
        </p:spPr>
      </p:sp>
      <p:sp>
        <p:nvSpPr>
          <p:cNvPr id="25" name="Shape 22"/>
          <p:cNvSpPr/>
          <p:nvPr/>
        </p:nvSpPr>
        <p:spPr>
          <a:xfrm>
            <a:off x="914400" y="3291840"/>
            <a:ext cx="969264" cy="237744"/>
          </a:xfrm>
          <a:prstGeom prst="roundRect">
            <a:avLst>
              <a:gd name="adj" fmla="val 61538"/>
            </a:avLst>
          </a:prstGeom>
          <a:solidFill>
            <a:srgbClr val="27AE60"/>
          </a:solidFill>
          <a:ln/>
        </p:spPr>
      </p:sp>
      <p:sp>
        <p:nvSpPr>
          <p:cNvPr id="26" name="Text 23"/>
          <p:cNvSpPr/>
          <p:nvPr/>
        </p:nvSpPr>
        <p:spPr>
          <a:xfrm>
            <a:off x="914400" y="3291840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变革层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2020824" y="3255264"/>
            <a:ext cx="6163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变革管理团队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914400" y="35661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变革经理（薄云咨询）+内部HRBP+Champion大使×15人。职责：就绪度评估、沟通培训、阻力处理。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685800" y="4005072"/>
            <a:ext cx="7772400" cy="384048"/>
          </a:xfrm>
          <a:prstGeom prst="roundRect">
            <a:avLst>
              <a:gd name="adj" fmla="val 14286"/>
            </a:avLst>
          </a:prstGeom>
          <a:solidFill>
            <a:srgbClr val="2C5A8E"/>
          </a:solidFill>
          <a:ln/>
        </p:spPr>
      </p:sp>
      <p:sp>
        <p:nvSpPr>
          <p:cNvPr id="30" name="Text 27"/>
          <p:cNvSpPr/>
          <p:nvPr/>
        </p:nvSpPr>
        <p:spPr>
          <a:xfrm>
            <a:off x="685800" y="400507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RACI矩阵详见附件。关键原则：变革管理团队不是可选配置，是项目成功的必要条件。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0916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0"/>
            <a:ext cx="292608" cy="594360"/>
          </a:xfrm>
          <a:prstGeom prst="rect">
            <a:avLst/>
          </a:prstGeom>
          <a:solidFill>
            <a:srgbClr val="417AB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371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17A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模块11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822960"/>
            <a:ext cx="7772400" cy="1371600"/>
          </a:xfrm>
          <a:prstGeom prst="roundRect">
            <a:avLst>
              <a:gd name="adj" fmla="val 6667"/>
            </a:avLst>
          </a:prstGeom>
          <a:solidFill>
            <a:srgbClr val="2C5A8E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9326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>
                    <a:alpha val="7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11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117043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变革管理策略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85800" y="1828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流程能设计好，人员能带得动吗？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2423160"/>
            <a:ext cx="7772400" cy="502920"/>
          </a:xfrm>
          <a:prstGeom prst="roundRect">
            <a:avLst>
              <a:gd name="adj" fmla="val 10909"/>
            </a:avLst>
          </a:prstGeom>
          <a:solidFill>
            <a:srgbClr val="F0F5FA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2423160"/>
            <a:ext cx="64008" cy="502920"/>
          </a:xfrm>
          <a:prstGeom prst="rect">
            <a:avLst/>
          </a:prstGeom>
          <a:solidFill>
            <a:srgbClr val="E8832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4231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赞助人活动 × Champion体系 × 培训策略 × 阻力应对</a:t>
            </a:r>
            <a:endParaRPr lang="en-US" sz="1400" dirty="0"/>
          </a:p>
        </p:txBody>
      </p:sp>
      <p:pic>
        <p:nvPicPr>
          <p:cNvPr id="11" name="Image 0" descr="/Users/bring-2/.openclaw/workspace/skills/bringppt/assets/bring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4572000"/>
            <a:ext cx="1005840" cy="30175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0916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0"/>
            <a:ext cx="292608" cy="594360"/>
          </a:xfrm>
          <a:prstGeom prst="rect">
            <a:avLst/>
          </a:prstGeom>
          <a:solidFill>
            <a:srgbClr val="417AB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17A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 变革管理策略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199632" y="137160"/>
            <a:ext cx="2670048" cy="320040"/>
          </a:xfrm>
          <a:prstGeom prst="roundRect">
            <a:avLst>
              <a:gd name="adj" fmla="val 45714"/>
            </a:avLst>
          </a:prstGeom>
          <a:solidFill>
            <a:srgbClr val="E8832A"/>
          </a:solidFill>
          <a:ln/>
        </p:spPr>
      </p:sp>
      <p:sp>
        <p:nvSpPr>
          <p:cNvPr id="5" name="Text 3"/>
          <p:cNvSpPr/>
          <p:nvPr/>
        </p:nvSpPr>
        <p:spPr>
          <a:xfrm>
            <a:off x="6199632" y="137160"/>
            <a:ext cx="267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第十一章 · 变革特色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71600" y="42519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8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有了好的流程设计，如何确保人员真正改变行为？</a:t>
            </a:r>
            <a:endParaRPr lang="en-US" sz="1200" dirty="0"/>
          </a:p>
        </p:txBody>
      </p:sp>
      <p:pic>
        <p:nvPicPr>
          <p:cNvPr id="7" name="Image 0" descr="/Users/bring-2/.openclaw/workspace/skills/bringppt/assets/bring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4572000"/>
            <a:ext cx="1005840" cy="30175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77240" y="1011555"/>
            <a:ext cx="548640" cy="548640"/>
          </a:xfrm>
          <a:prstGeom prst="ellipse">
            <a:avLst/>
          </a:prstGeom>
          <a:solidFill>
            <a:srgbClr val="F0F5FA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1011555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554480" y="914400"/>
            <a:ext cx="6858000" cy="3343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2C5A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赞助人可见度计划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554480" y="1248728"/>
            <a:ext cx="6858000" cy="408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月度全员信（CEO署名）+季度启动大会主讲+中层1对1对话。让全员感受到高层真的支持变革。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77240" y="1845945"/>
            <a:ext cx="548640" cy="548640"/>
          </a:xfrm>
          <a:prstGeom prst="ellipse">
            <a:avLst/>
          </a:prstGeom>
          <a:solidFill>
            <a:srgbClr val="F0F5FA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1845945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1554480" y="1748790"/>
            <a:ext cx="6858000" cy="3343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2C5A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Champion大使网络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554480" y="2083118"/>
            <a:ext cx="6858000" cy="408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各部门招募大使共15人，2天培训工作坊+月度运营会。覆盖基层，解决管理层触达盲区。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777240" y="2680335"/>
            <a:ext cx="548640" cy="548640"/>
          </a:xfrm>
          <a:prstGeom prst="ellipse">
            <a:avLst/>
          </a:prstGeom>
          <a:solidFill>
            <a:srgbClr val="F0F5FA"/>
          </a:solidFill>
          <a:ln/>
        </p:spPr>
      </p:sp>
      <p:sp>
        <p:nvSpPr>
          <p:cNvPr id="17" name="Text 14"/>
          <p:cNvSpPr/>
          <p:nvPr/>
        </p:nvSpPr>
        <p:spPr>
          <a:xfrm>
            <a:off x="777240" y="2680335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1554480" y="2583180"/>
            <a:ext cx="6858000" cy="3343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2C5A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分层培训方案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554480" y="2917508"/>
            <a:ext cx="6858000" cy="408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高管：半天变革领导力工作坊；中层：1天IPD流程+变革培训；一线：IPD基础操作培训。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777240" y="3514725"/>
            <a:ext cx="548640" cy="548640"/>
          </a:xfrm>
          <a:prstGeom prst="ellipse">
            <a:avLst/>
          </a:prstGeom>
          <a:solidFill>
            <a:srgbClr val="F0F5FA"/>
          </a:solidFill>
          <a:ln/>
        </p:spPr>
      </p:sp>
      <p:sp>
        <p:nvSpPr>
          <p:cNvPr id="21" name="Text 18"/>
          <p:cNvSpPr/>
          <p:nvPr/>
        </p:nvSpPr>
        <p:spPr>
          <a:xfrm>
            <a:off x="777240" y="3514725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1554480" y="3417570"/>
            <a:ext cx="6858000" cy="3343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2C5A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阻力应对预案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1554480" y="3751897"/>
            <a:ext cx="6858000" cy="408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中层阻力（最高风险）：专项路演+利益再设计（Week2）。月度采纳率调研低于阈值自动触发干预。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0916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0"/>
            <a:ext cx="292608" cy="594360"/>
          </a:xfrm>
          <a:prstGeom prst="rect">
            <a:avLst/>
          </a:prstGeom>
          <a:solidFill>
            <a:srgbClr val="417AB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17A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 沟通计划概要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607808" y="137160"/>
            <a:ext cx="1261872" cy="320040"/>
          </a:xfrm>
          <a:prstGeom prst="roundRect">
            <a:avLst>
              <a:gd name="adj" fmla="val 45714"/>
            </a:avLst>
          </a:prstGeom>
          <a:solidFill>
            <a:srgbClr val="2C5A8E"/>
          </a:solidFill>
          <a:ln/>
        </p:spPr>
      </p:sp>
      <p:sp>
        <p:nvSpPr>
          <p:cNvPr id="5" name="Text 3"/>
          <p:cNvSpPr/>
          <p:nvPr/>
        </p:nvSpPr>
        <p:spPr>
          <a:xfrm>
            <a:off x="7607808" y="137160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第十二章</a:t>
            </a:r>
            <a:endParaRPr lang="en-US" sz="1200" dirty="0"/>
          </a:p>
        </p:txBody>
      </p:sp>
      <p:pic>
        <p:nvPicPr>
          <p:cNvPr id="6" name="Image 0" descr="/Users/bring-2/.openclaw/workspace/skills/bringppt/assets/bring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4572000"/>
            <a:ext cx="1005840" cy="3017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914400"/>
            <a:ext cx="3840480" cy="3200400"/>
          </a:xfrm>
          <a:prstGeom prst="rect">
            <a:avLst/>
          </a:prstGeom>
          <a:solidFill>
            <a:srgbClr val="F0F5FA"/>
          </a:solidFill>
          <a:ln w="6350">
            <a:solidFill>
              <a:srgbClr val="D0D8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" y="914400"/>
            <a:ext cx="3840480" cy="64008"/>
          </a:xfrm>
          <a:prstGeom prst="rect">
            <a:avLst/>
          </a:prstGeom>
          <a:solidFill>
            <a:srgbClr val="417ABE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11887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A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五个核心沟通信息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22960" y="182880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为什么变：竞争压力，必须更快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变什么：IPD重塑研发协作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对我意味着什么：职责更清晰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如何参与：Champion招募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有问题找谁：FAQ+Champion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754880" y="914400"/>
            <a:ext cx="3840480" cy="3200400"/>
          </a:xfrm>
          <a:prstGeom prst="rect">
            <a:avLst/>
          </a:prstGeom>
          <a:solidFill>
            <a:srgbClr val="F0F5FA"/>
          </a:solidFill>
          <a:ln w="6350">
            <a:solidFill>
              <a:srgbClr val="D0D8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914400"/>
            <a:ext cx="3840480" cy="64008"/>
          </a:xfrm>
          <a:prstGeom prst="rect">
            <a:avLst/>
          </a:prstGeom>
          <a:solidFill>
            <a:srgbClr val="417ABE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0" y="11887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A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沟通渠道矩阵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5029200" y="182880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全员：CEO全员信（关键节点）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管理层：月度管理者通报会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部门：Champion部门会议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个人：FAQ手册+匿名问卷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公开：内网专题页面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0916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0"/>
            <a:ext cx="292608" cy="594360"/>
          </a:xfrm>
          <a:prstGeom prst="rect">
            <a:avLst/>
          </a:prstGeom>
          <a:solidFill>
            <a:srgbClr val="417AB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17A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 依赖关系与假设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607808" y="137160"/>
            <a:ext cx="1261872" cy="320040"/>
          </a:xfrm>
          <a:prstGeom prst="roundRect">
            <a:avLst>
              <a:gd name="adj" fmla="val 45714"/>
            </a:avLst>
          </a:prstGeom>
          <a:solidFill>
            <a:srgbClr val="2C5A8E"/>
          </a:solidFill>
          <a:ln/>
        </p:spPr>
      </p:sp>
      <p:sp>
        <p:nvSpPr>
          <p:cNvPr id="5" name="Text 3"/>
          <p:cNvSpPr/>
          <p:nvPr/>
        </p:nvSpPr>
        <p:spPr>
          <a:xfrm>
            <a:off x="7607808" y="137160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第十三章</a:t>
            </a:r>
            <a:endParaRPr lang="en-US" sz="1200" dirty="0"/>
          </a:p>
        </p:txBody>
      </p:sp>
      <p:pic>
        <p:nvPicPr>
          <p:cNvPr id="6" name="Image 0" descr="/Users/bring-2/.openclaw/workspace/skills/bringppt/assets/bring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4572000"/>
            <a:ext cx="1005840" cy="3017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914400"/>
            <a:ext cx="3657600" cy="2834640"/>
          </a:xfrm>
          <a:prstGeom prst="roundRect">
            <a:avLst>
              <a:gd name="adj" fmla="val 2581"/>
            </a:avLst>
          </a:prstGeom>
          <a:solidFill>
            <a:srgbClr val="F0F5FA"/>
          </a:solidFill>
          <a:ln/>
        </p:spPr>
      </p:sp>
      <p:sp>
        <p:nvSpPr>
          <p:cNvPr id="8" name="Shape 5"/>
          <p:cNvSpPr/>
          <p:nvPr/>
        </p:nvSpPr>
        <p:spPr>
          <a:xfrm>
            <a:off x="731520" y="914400"/>
            <a:ext cx="3657600" cy="64008"/>
          </a:xfrm>
          <a:prstGeom prst="rect">
            <a:avLst/>
          </a:prstGeom>
          <a:solidFill>
            <a:srgbClr val="2C5A8E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10515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5A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关键依赖项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005840" y="155448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IT系统（另立项）推广前完成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HR激励机制Q2与IPD角色对齐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研发VP全力配合新架构设计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外部顾问资源档期锁定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754880" y="914400"/>
            <a:ext cx="3657600" cy="2834640"/>
          </a:xfrm>
          <a:prstGeom prst="roundRect">
            <a:avLst>
              <a:gd name="adj" fmla="val 2581"/>
            </a:avLst>
          </a:prstGeom>
          <a:solidFill>
            <a:srgbClr val="F0F5FA"/>
          </a:solidFill>
          <a:ln/>
        </p:spPr>
      </p:sp>
      <p:sp>
        <p:nvSpPr>
          <p:cNvPr id="12" name="Shape 9"/>
          <p:cNvSpPr/>
          <p:nvPr/>
        </p:nvSpPr>
        <p:spPr>
          <a:xfrm>
            <a:off x="4754880" y="914400"/>
            <a:ext cx="3657600" cy="64008"/>
          </a:xfrm>
          <a:prstGeom prst="rect">
            <a:avLst/>
          </a:prstGeom>
          <a:solidFill>
            <a:srgbClr val="E8832A"/>
          </a:solidFill>
          <a:ln/>
        </p:spPr>
      </p:sp>
      <p:sp>
        <p:nvSpPr>
          <p:cNvPr id="13" name="Text 10"/>
          <p:cNvSpPr/>
          <p:nvPr/>
        </p:nvSpPr>
        <p:spPr>
          <a:xfrm>
            <a:off x="4754880" y="10515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8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核心假设与失效应对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5029200" y="155448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假设：无重大战略调整；失效：暂停重评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假设：试点管理者稳定；失效：重选试点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假设：IT改造≤3个月；失效：人工流程替代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假设：预算不大幅削减；失效：保核心阶段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31520" y="39319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A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假设显性化是Charter重要原则——隐藏假设会在执行中造成巨大争议。假设失效时项目团队有权要求重新评估Charter。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0916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0"/>
            <a:ext cx="292608" cy="594360"/>
          </a:xfrm>
          <a:prstGeom prst="rect">
            <a:avLst/>
          </a:prstGeom>
          <a:solidFill>
            <a:srgbClr val="417AB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371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17A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模块14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822960"/>
            <a:ext cx="7772400" cy="1371600"/>
          </a:xfrm>
          <a:prstGeom prst="roundRect">
            <a:avLst>
              <a:gd name="adj" fmla="val 6667"/>
            </a:avLst>
          </a:prstGeom>
          <a:solidFill>
            <a:srgbClr val="2C5A8E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9326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>
                    <a:alpha val="7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14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117043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财务分析（ROI）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85800" y="1828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从投资角度论证变革价值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2423160"/>
            <a:ext cx="7772400" cy="502920"/>
          </a:xfrm>
          <a:prstGeom prst="roundRect">
            <a:avLst>
              <a:gd name="adj" fmla="val 10909"/>
            </a:avLst>
          </a:prstGeom>
          <a:solidFill>
            <a:srgbClr val="F0F5FA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2423160"/>
            <a:ext cx="64008" cy="502920"/>
          </a:xfrm>
          <a:prstGeom prst="rect">
            <a:avLst/>
          </a:prstGeom>
          <a:solidFill>
            <a:srgbClr val="E8832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4231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 vs 收益 × 投资回收期 × 假设透明</a:t>
            </a:r>
            <a:endParaRPr lang="en-US" sz="1400" dirty="0"/>
          </a:p>
        </p:txBody>
      </p:sp>
      <p:pic>
        <p:nvPicPr>
          <p:cNvPr id="11" name="Image 0" descr="/Users/bring-2/.openclaw/workspace/skills/bringppt/assets/bring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4572000"/>
            <a:ext cx="1005840" cy="30175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0916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0"/>
            <a:ext cx="292608" cy="594360"/>
          </a:xfrm>
          <a:prstGeom prst="rect">
            <a:avLst/>
          </a:prstGeom>
          <a:solidFill>
            <a:srgbClr val="417AB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17A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 财务分析（ROI）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607808" y="137160"/>
            <a:ext cx="1261872" cy="320040"/>
          </a:xfrm>
          <a:prstGeom prst="roundRect">
            <a:avLst>
              <a:gd name="adj" fmla="val 45714"/>
            </a:avLst>
          </a:prstGeom>
          <a:solidFill>
            <a:srgbClr val="2C5A8E"/>
          </a:solidFill>
          <a:ln/>
        </p:spPr>
      </p:sp>
      <p:sp>
        <p:nvSpPr>
          <p:cNvPr id="5" name="Text 3"/>
          <p:cNvSpPr/>
          <p:nvPr/>
        </p:nvSpPr>
        <p:spPr>
          <a:xfrm>
            <a:off x="7607808" y="137160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第十四章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71600" y="46634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如果变革成功，公司在3年后会有什么不同？</a:t>
            </a:r>
            <a:endParaRPr lang="en-US" sz="900" dirty="0"/>
          </a:p>
        </p:txBody>
      </p:sp>
      <p:pic>
        <p:nvPicPr>
          <p:cNvPr id="7" name="Image 0" descr="/Users/bring-2/.openclaw/workspace/skills/bringppt/assets/bring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4572000"/>
            <a:ext cx="1005840" cy="30175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914400"/>
            <a:ext cx="3840480" cy="3200400"/>
          </a:xfrm>
          <a:prstGeom prst="rect">
            <a:avLst/>
          </a:prstGeom>
          <a:solidFill>
            <a:srgbClr val="F0F5FA"/>
          </a:solidFill>
          <a:ln w="6350">
            <a:solidFill>
              <a:srgbClr val="D0D8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914400"/>
            <a:ext cx="3840480" cy="64008"/>
          </a:xfrm>
          <a:prstGeom prst="rect">
            <a:avLst/>
          </a:prstGeom>
          <a:solidFill>
            <a:srgbClr val="417ABE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11887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A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成本估算（[X]万元）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22960" y="182880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咨询费：[XX]万 | 内部人力：[XX]万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培训工作坊：[X]万 | 系统适配：[X]万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差旅运营：[X]万 | 应急储备：[X]万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合计：[XXX]万元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754880" y="914400"/>
            <a:ext cx="3840480" cy="3200400"/>
          </a:xfrm>
          <a:prstGeom prst="rect">
            <a:avLst/>
          </a:prstGeom>
          <a:solidFill>
            <a:srgbClr val="F0F5FA"/>
          </a:solidFill>
          <a:ln w="6350">
            <a:solidFill>
              <a:srgbClr val="D0D8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54880" y="914400"/>
            <a:ext cx="3840480" cy="64008"/>
          </a:xfrm>
          <a:prstGeom prst="rect">
            <a:avLst/>
          </a:prstGeom>
          <a:solidFill>
            <a:srgbClr val="417ABE"/>
          </a:solidFill>
          <a:ln/>
        </p:spPr>
      </p:sp>
      <p:sp>
        <p:nvSpPr>
          <p:cNvPr id="14" name="Text 11"/>
          <p:cNvSpPr/>
          <p:nvPr/>
        </p:nvSpPr>
        <p:spPr>
          <a:xfrm>
            <a:off x="5029200" y="11887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A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3年累计收益测算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5029200" y="182880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①TTM缩短→先发收益约[XX]万/年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（每产品首月收入×产品数×缩短月数）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②DFQ提升→减少返工约[X]万/年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③投资回收期：[X]个月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0916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0"/>
            <a:ext cx="292608" cy="594360"/>
          </a:xfrm>
          <a:prstGeom prst="rect">
            <a:avLst/>
          </a:prstGeom>
          <a:solidFill>
            <a:srgbClr val="417AB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17A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关键成功因素（变革管理视角）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004304" y="137160"/>
            <a:ext cx="1865376" cy="320040"/>
          </a:xfrm>
          <a:prstGeom prst="roundRect">
            <a:avLst>
              <a:gd name="adj" fmla="val 45714"/>
            </a:avLst>
          </a:prstGeom>
          <a:solidFill>
            <a:srgbClr val="E8832A"/>
          </a:solidFill>
          <a:ln/>
        </p:spPr>
      </p:sp>
      <p:sp>
        <p:nvSpPr>
          <p:cNvPr id="5" name="Text 3"/>
          <p:cNvSpPr/>
          <p:nvPr/>
        </p:nvSpPr>
        <p:spPr>
          <a:xfrm>
            <a:off x="7004304" y="13716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变革管理CSF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71600" y="42519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8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如果只能做3件事保证成功，你选哪3件？</a:t>
            </a:r>
            <a:endParaRPr lang="en-US" sz="1200" dirty="0"/>
          </a:p>
        </p:txBody>
      </p:sp>
      <p:pic>
        <p:nvPicPr>
          <p:cNvPr id="7" name="Image 0" descr="/Users/bring-2/.openclaw/workspace/skills/bringppt/assets/bring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4572000"/>
            <a:ext cx="1005840" cy="30175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77240" y="1011555"/>
            <a:ext cx="548640" cy="548640"/>
          </a:xfrm>
          <a:prstGeom prst="ellipse">
            <a:avLst/>
          </a:prstGeom>
          <a:solidFill>
            <a:srgbClr val="F0F5FA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1011555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554480" y="914400"/>
            <a:ext cx="6858000" cy="3343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2C5A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赞助人可见度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554480" y="1248728"/>
            <a:ext cx="6858000" cy="408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CEO赞助人全程保持高度可见——公开表态、出席关键活动、亲自对齐中层。赞助人消失是变革失败首要信号。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77240" y="1845945"/>
            <a:ext cx="548640" cy="548640"/>
          </a:xfrm>
          <a:prstGeom prst="ellipse">
            <a:avLst/>
          </a:prstGeom>
          <a:solidFill>
            <a:srgbClr val="F0F5FA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1845945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1554480" y="1748790"/>
            <a:ext cx="6858000" cy="3343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2C5A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中层管理者对齐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554480" y="2083118"/>
            <a:ext cx="6858000" cy="408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15名中层主管是成败关键群体。推广前必须完成利益再设计和能力提升，目标支持度≥3.8/5.0。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777240" y="2680335"/>
            <a:ext cx="548640" cy="548640"/>
          </a:xfrm>
          <a:prstGeom prst="ellipse">
            <a:avLst/>
          </a:prstGeom>
          <a:solidFill>
            <a:srgbClr val="F0F5FA"/>
          </a:solidFill>
          <a:ln/>
        </p:spPr>
      </p:sp>
      <p:sp>
        <p:nvSpPr>
          <p:cNvPr id="17" name="Text 14"/>
          <p:cNvSpPr/>
          <p:nvPr/>
        </p:nvSpPr>
        <p:spPr>
          <a:xfrm>
            <a:off x="777240" y="2680335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1554480" y="2583180"/>
            <a:ext cx="6858000" cy="3343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2C5A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变革成效持续监测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554480" y="2917508"/>
            <a:ext cx="6858000" cy="408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月度变革成效仪表板：采纳率、KPI进展、阻力信号。数据驱动决策，及时识别偏差并调整策略。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777240" y="3514725"/>
            <a:ext cx="548640" cy="548640"/>
          </a:xfrm>
          <a:prstGeom prst="ellipse">
            <a:avLst/>
          </a:prstGeom>
          <a:solidFill>
            <a:srgbClr val="F0F5FA"/>
          </a:solidFill>
          <a:ln/>
        </p:spPr>
      </p:sp>
      <p:sp>
        <p:nvSpPr>
          <p:cNvPr id="21" name="Text 18"/>
          <p:cNvSpPr/>
          <p:nvPr/>
        </p:nvSpPr>
        <p:spPr>
          <a:xfrm>
            <a:off x="777240" y="3514725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1554480" y="3417570"/>
            <a:ext cx="6858000" cy="3343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2C5A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固化机制到位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1554480" y="3751897"/>
            <a:ext cx="6858000" cy="408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制度文件更新+考核标准对齐+能力纳入胜任力，防止变革反弹。结项后12个月持续追踪。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0916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2C5A8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800000">
            <a:off x="1426464" y="740664"/>
            <a:ext cx="292608" cy="292608"/>
          </a:xfrm>
          <a:prstGeom prst="star4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800000">
            <a:off x="7424928" y="740664"/>
            <a:ext cx="292608" cy="292608"/>
          </a:xfrm>
          <a:prstGeom prst="star4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1800000">
            <a:off x="1426464" y="4114800"/>
            <a:ext cx="292608" cy="292608"/>
          </a:xfrm>
          <a:prstGeom prst="star4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 rot="1800000">
            <a:off x="7424928" y="4114800"/>
            <a:ext cx="292608" cy="292608"/>
          </a:xfrm>
          <a:prstGeom prst="star4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10972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变革有章法，推进有依据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3200400" y="1965960"/>
            <a:ext cx="2743200" cy="22860"/>
          </a:xfrm>
          <a:prstGeom prst="rect">
            <a:avLst/>
          </a:prstGeom>
          <a:solidFill>
            <a:srgbClr val="E8832A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148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薄云咨询 · 变革管理专项团队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828800" y="3749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8C0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www.szbring.com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华为IPD变革项目Charter材料包（薄云版）</dc:title>
  <dc:subject>PptxGenJS Presentation</dc:subject>
  <dc:creator>薄云咨询</dc:creator>
  <cp:lastModifiedBy>薄云咨询</cp:lastModifiedBy>
  <cp:revision>1</cp:revision>
  <dcterms:created xsi:type="dcterms:W3CDTF">2026-03-24T04:21:42Z</dcterms:created>
  <dcterms:modified xsi:type="dcterms:W3CDTF">2026-03-24T04:21:42Z</dcterms:modified>
</cp:coreProperties>
</file>