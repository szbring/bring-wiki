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欢迎各位。今天我们分享的主题是华为Functional Excellence——职能卓越体系。这套体系是华为在完成IPD、ISC、IFS等核心业务流程变革之后，系统性提升各职能部门能力的顶层框架。很多企业关注华为的研发和销售体系，但忽略了职能能力这个"底座"——今天我们就来拆解这个常被忽视的重要体系。（时间：1分钟，引入话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的分享框架，四个章节，大约60分钟。前两章是认知层面——什么是FE、为什么要做；后两章是实操层面——怎么落地、薄云能帮什么。大家如果有问题，欢迎随时打断。（时间：0.5分钟，过渡语：那我们直接进入第一章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第一章，我们来搞清楚"FE究竟是什么"。这个问题看似简单，但很多人对FE有误解——认为它只是HR或IT的提升项目，实际上FE是一个更宏观的职能能力框架。（时间：1分钟，过渡语：先来看定义。）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这里有两个关键点：第一，FE是"体系"不是"项目"——它是华为对所有职能能力的整体要求框架；第二，FE的起点是业务驱动的——不是为了让HR更专业，而是因为职能能力成为了业务增长的瓶颈。
华为在2000年代完成了IPD、ISC等业务流程变革，效果显著，但随后发现一个新问题：业务流程好了，但支撑这些流程的职能部门跟不上，成了新的短板。这就是FE的战略背景。
（时间：3分钟，过渡语：那FE和传统职能管理有什么本质区别？）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这张对比图是FE的精华所在。注意看最后一行——"价值不可见"和"价值可量化"。这是很多企业职能部门面临的根本困境：做了很多工作，但说不清楚贡献了多少，所以在预算讨论中总是被砍。
华为FE的解法是：建立职能价值衡量体系，让每个职能部门都能用数据说话。HR能说出"今年我们的招聘改善为公司节省了500万人力成本"；财经能说出"我们的成本控制帮助毛利率提升了2个点"——这才是真正的战略伙伴。
（时间：3分钟，过渡语：FE覆盖哪些职能领域？）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这八大职能领域，每一个都有独立的FE提升路径。在实际咨询中，我们通常建议客户先聚焦1-2个最关键的职能领域作为突破口，而不是八个一起上。
华为自己也是分阶段推进的：先是研发管理（IPD），然后是供应链（ISC），然后是财务（IFS），然后是HR三支柱——大概用了10-15年的时间，才把八大职能都升级到较高的成熟度水平。
对于大多数中国企业，我们建议从HR和财经开始——因为这两个职能对业务的影响最直接、最可见，成果也最容易量化。
（时间：3分钟，过渡语：了解了FE是什么，我们来看第二章——为什么需要FE。）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第二章，我们来建立"为什么要做FE"的共识。这一章很重要——因为FE变革是有成本的，需要投入时间、精力和资金。如果没有清晰的"为什么"，项目很容易在遇到阻力时就放弃了。
（时间：1分钟，过渡语：先来看没有FE会发生什么。）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这五个痛点，我在和企业家交流时，几乎每次都能得到强烈的共鸣。特别是第一条和第二条——人才问题和财务数据问题，是增长型企业最普遍的挑战。
有一个有趣的发现：当我们问"你们的增长瓶颈在哪里"时，大多数高管第一反应是"市场竞争""产品差异化""客户获取"——这些都是外部原因。但当我们深入追问，往往会发现真正的瓶颈是内部职能能力：招不到合适的人去执行策略、财务看不清楚哪个业务在赚钱、IT系统支撑不了新业务模式。
（时间：4分钟，过渡语：这些痛点，和职能能力不足有直接关联。来看业务影响。）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这个三层模型是理解FE重要性的关键框架。打个比喻：战略层是"想去哪里"，执行层是"走哪条路"，支撑层（职能能力）是"交通工具和基础设施"。
如果你的交通工具是毛驴（HR招聘周期3个月、财务数据永远滞后），那就算你制定了再好的策略、设计了再好的流程，也跑不快。
华为的独特之处在于：他们在优化"走哪条路"（IPD/ISC/IFS）的同时，也系统性地升级了"交通工具"（FE）——这是华为能从几十亿成长到3000亿的重要原因之一。
（时间：3分钟，过渡语：华为FE的成果，数据说话。）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这些数字背后是什么？财务关账从10天压缩到3天，意味着管理层每个月能提前7天拿到准确的财务数据——在快速变化的市场中，这7天可能决定一个重大决策的成败。
全球7个财务共享中心，是华为财经FE的核心举措——将分散在全球各地的事务性财务工作集中处理，释放当地财经人员专注于业务支撑。
HRBP从2009年开始在华为全面推行，到2012年已经覆盖国内所有一级业务部门，2014年前后覆盖海外代表处——这是一个3-5年的系统工程，不是一朝一夕。
（时间：3分钟，过渡语：了解了为什么，我们来看第三章——FE怎么落地。）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第三章是今天最硬核的部分——FE怎么落地。我会从三个维度展开：路径层次、成熟度模型、和流程协同关系。
（时间：1分钟，过渡语：先来看FE变革的三个层次。）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这三层是我们在实际项目中总结出来的规律。很多企业做FE提升，只做第一层（流程梳理和SOP），做完就以为大功告成了——结果六个月后又回到原来的样子，因为人的能力没跟上、文化没有改变。
华为花了将近十年，三个层次同步推进，才完成了真正意义上的FE变革。对于大多数企业，我们建议的节奏是：第一年重点做第一层（流程优化），同时启动第二层（能力建设）；第二年重点推第三层（文化变革），同时迭代优化前两层。
（时间：4分钟，过渡语：在这个路径里，如何判断我在哪个阶段？这就是FE成熟度模型的价值。）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这个L1-L5模型，是我们做FE诊断的核心工具。给大家一个参考数字：根据我们的观察，中国企业中大约40%停留在L1（被动执行），35%在L2（规范运作），18%在L3（业务伙伴），只有不到7%真正达到了L4以上。
所以对大多数中国企业来说，FE提升的现实目标不是"成为华为"，而是"从L1-L2跨越到L3"——这个跨越是最有价值的，也是最可行的。
华为自己用了大概5年时间，将核心职能从L2推进到L3-L4，现在某些职能已经接近L5。
（时间：3分钟，过渡语：各职能的关键举措是什么？）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这张表是我们在和客户沟通时最常用的一张图——直观展示每个职能的"现在是什么"和"FE之后是什么"，以及中间的关键举措。
注意观察右边一列"标志性成果"——这些都是可以实际测量的。我们在每个FE项目启动时，都会先把这些成果指标的基线值测出来，然后每个月跟踪，每个季度向管理层汇报进展。
没有可量化的成果，变革项目就很难持续获得管理层的资源支持。
（时间：4分钟，过渡语：FE不是孤立的，它和华为的核心业务流程有紧密的协同关系。）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这张图解释了一个重要关系：FE不是独立存在的，它是整个华为管理体系的"底座支撑"。
以IPD为例：华为推IPD时，发现一个问题——IPD需要跨部门的研发团队协作，但HR的人才配置速度跟不上；研发需要大量IT工具支撑，但IT部门响应慢；采购需要在产品开发早期介入（DFX设计），但采购部门没有这个能力。所以IPD推进到一定程度，就逼迫着HR、IT、采购进行FE升级。
这也是为什么我们建议：FE提升要和业务变革同步规划，而不是等业务流程稳定了再去搞职能提升——那时候已经付出了不少代价。
（时间：4分钟，过渡语：FE推进的典型里程碑。）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这个里程碑是我们基于多个FE项目经验总结的"标准节奏"。注意几个关键点：
第一，试点期（M6-9）非常重要。很多企业想跳过试点直接全面推广，这是错误的。试点的目的不只是验证方案，更重要的是积累实施经验、培养内部种子人员、建立"样板"来说服怀疑者。
第二，推广期（M10-18）建议分3批：每批覆盖不同的业务部门/职能，而不是同时全面铺开。分批推广可以持续优化方案，也可以用前一批的成果说服后一批的参与者。
第三，固化（M19+）是最容易被忽视的环节。很多变革项目，在顾问离场后3个月就回到原点——因为没有把FE能力嵌入制度（HR管理办法、绩效考核）和文化（领导言行、认可机制）中。
（时间：3分钟，过渡语：第三章讲完了，我们进入最后一章——薄云的FE服务。）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最后一章，我来介绍薄云咨询的FE服务——我们能帮客户做什么，以及可以怎么开始。
（时间：1分钟）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我们的诊断服务有两个版本。对于第一次接触FE的企业，通常建议从快速诊断开始——2周、15-25万，就能知道你的企业FE成熟度在哪个水平，最短板在哪里。
快速诊断本身也有很大的价值：它帮管理层建立共识——原来我们HR的成熟度只有L1.8，财经只有L2.1，这个基线数字，往往比任何说辞都更有说服力。
深度诊断则是在快速诊断的基础上，做更完整的基线测量，同时输出可以直接进入实施阶段的行动计划。
（时间：3分钟，过渡语：诊断完之后，如何实施？）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这五步是我们标准的FE咨询路径，也对应了前面讲到的项目里程碑。注意第四步"推广"的描述——"不依赖外部顾问，内部团队能独立推进"。这是我们对所有FE项目的基本承诺：客户赋能，不制造依赖。
如果一个咨询公司每次都要客户回来续签才能保持成果，那说明这个咨询没有真正把能力留在客户那里。我们的目标是：薄云离场之后，客户的FE能力还在持续提升。
（时间：4分钟，过渡语：那从今天起，可以做什么？）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这是我希望大家今天带走的最重要的一件事：不要等。FE变革的最大敌人不是资源不够，而是"等一个更好的时机"——等业务稳定了、等人力充裕了、等系统建好了……
华为任正非有一句话："最好的变革时机，是你觉得还不需要变革的时候。"等到痛点无法忽视了，变革的成本会更大，也更痛。
所以我建议大家，今天回去做一件事：和你的HR/CFO/CIO各聊30分钟，聊聊他们认为自己的部门最大的短板是什么、最想要什么资源和支持。这个对话本身，就是FE变革的起点。
薄云随时准备好，为大家提供初步的FE诊断支持。
（时间：3分钟）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这句话是今天的收尾。我希望大家带着这个问题回去思考：我们的职能底座，是否已经准备好支撑未来3-5年的增长目标？
（时间：1分钟，直接进封底）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感谢各位今天的参与。如有任何关于FE体系或薄云服务的问题，欢迎课后与我们的顾问团队交流。联系方式见PPT封底。（时间：1分钟，结语）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9768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7991856" y="-18288"/>
            <a:ext cx="466344" cy="1801368"/>
          </a:xfrm>
          <a:prstGeom prst="ellipse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8083296" y="731520"/>
            <a:ext cx="292608" cy="292608"/>
          </a:xfrm>
          <a:prstGeom prst="star4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0"/>
            <a:ext cx="0" cy="128016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14173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56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2743200"/>
            <a:ext cx="0" cy="1554480"/>
          </a:xfrm>
          <a:prstGeom prst="line">
            <a:avLst/>
          </a:prstGeom>
          <a:noFill/>
          <a:ln w="19050">
            <a:solidFill>
              <a:srgbClr val="FFFFFF">
                <a:alpha val="31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华为管理体系系列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8136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 Functional Excellence</a:t>
            </a:r>
            <a:pPr indent="0" marL="0">
              <a:buNone/>
            </a:pPr>
            <a:r>
              <a:rPr lang="en-US" sz="28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体系解读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088136" y="2011680"/>
            <a:ext cx="365760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职能卓越：从成本中心到战略伙伴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职能卓越 | 管理变革 | HR | 财经 | 数字化</a:t>
            </a:r>
            <a:endParaRPr lang="en-US" sz="1600" dirty="0"/>
          </a:p>
        </p:txBody>
      </p:sp>
      <p:pic>
        <p:nvPicPr>
          <p:cNvPr id="12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297680"/>
            <a:ext cx="256032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本次分享框架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本次分享框架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四个章节 · 从认知到落地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理解FE → 认识必要性 → 掌握落地路径 → 了解薄云服务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54680"/>
            <a:ext cx="2468880" cy="4572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什么是FE？定义、背景与八大领域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010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为什么需要FE？痛点与华为成果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4758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FE如何落地？路径、模型与协同</a:t>
            </a:r>
            <a:endParaRPr lang="en-US" sz="1100" dirty="0"/>
          </a:p>
        </p:txBody>
      </p:sp>
      <p:pic>
        <p:nvPicPr>
          <p:cNvPr id="24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什么是FE职能卓越？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· 战略背景 · 八大职能领域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 = 职能部门的高质量发展路径，是华为Supporting流程体系的核心主张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2468880" cy="4572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FE定义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职能卓越的本质是什么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010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FE vs 传统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新旧职能管理的本质差异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4758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八大领域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FE覆盖哪些职能范围</a:t>
            </a:r>
            <a:endParaRPr lang="en-US" sz="1100" dirty="0"/>
          </a:p>
        </p:txBody>
      </p:sp>
      <p:pic>
        <p:nvPicPr>
          <p:cNvPr id="25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FE的定义与战略背景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9632" y="137160"/>
            <a:ext cx="2670048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199632" y="137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什么是FE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思考：你的企业，职能部门是"成本中心"还是"价值中心"？</a:t>
            </a:r>
            <a:endParaRPr lang="en-US" sz="12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FE的定义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FE（职能卓越）是华为BPA中支撑流程的核心主张。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本质：让HR、财经、IT、采购、法务等职能，从"后台执行者"升级为战略伙伴。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FE不是单一项目，而是职能部门系统性高质量发展路径。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14400"/>
            <a:ext cx="384048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战略背景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1828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华为完成IPD/ISC/IFS变革后发现：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业务流程升级了，职能能力没跟上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职能是"成本中心"，贡献不可量化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跨职能协同低效，无法形成合力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与IBM、GE等世界级标杆差距明显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2008年起，华为将职能能力建设提升为战略议题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 vs 传统职能管理：本质差异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9632" y="137160"/>
            <a:ext cx="2670048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199632" y="137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什么是FE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82296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822960"/>
            <a:ext cx="36576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传统职能管理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14630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成本中心定位，以控制费用为主要目标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被动响应：有需求才处理，无需求不主动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专业技能单一，缺乏业务理解能力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价值不可见，难以量化对业务的贡献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信息孤岛，跨职能协同靠人际关系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82296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822960"/>
            <a:ext cx="36576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FE职能卓越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120640" y="14630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价值中心定位，职能贡献与业务成果挂钩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主动介入：预判业务需求，提前布局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专业×业务×数据三维能力，成为决策伙伴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价值可量化，ROI清晰可见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标准化流程+数字化平台，协同高效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66260" y="2057400"/>
            <a:ext cx="411480" cy="41148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16" name="Text 13"/>
          <p:cNvSpPr/>
          <p:nvPr/>
        </p:nvSpPr>
        <p:spPr>
          <a:xfrm>
            <a:off x="43662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核心转变：从"我服务业务"的支撑心态，到"我就是业务团队的一部分"的伙伴心态——这是FE最根本的文化变革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FE覆盖的八大职能领域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199632" y="137160"/>
            <a:ext cx="2670048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199632" y="137160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什么是FE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来源：华为BPA业务流程架构（Supporting支撑流程体系）</a:t>
            </a:r>
            <a:endParaRPr lang="en-US" sz="9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82296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" y="82296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 HR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114985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三支柱转型·人才供给·组织发展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63190" y="82296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36342" y="82296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财经 Finance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36342" y="114985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管理会计·财经BP·集成财务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40580" y="82296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13732" y="82296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信息技术 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13732" y="114985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数字化使能·IT治理·数据平台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7970" y="82296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91122" y="82296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Procurement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91122" y="114985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战略采购·供应商管理·合规效率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" y="155448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58952" y="155448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 Legal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58952" y="188137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风险防控·合规文化·知识产权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63190" y="155448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736342" y="155448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 Admin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736342" y="188137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员工体验·办公数字化·共享服务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40580" y="155448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2C5A8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713732" y="155448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研发支撑 R&amp;D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13732" y="188137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知识管理·工具平台·研发质量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17970" y="1554480"/>
            <a:ext cx="1840230" cy="594360"/>
          </a:xfrm>
          <a:prstGeom prst="roundRect">
            <a:avLst>
              <a:gd name="adj" fmla="val 9231"/>
            </a:avLst>
          </a:prstGeom>
          <a:solidFill>
            <a:srgbClr val="417AB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691122" y="1554480"/>
            <a:ext cx="1693926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市场支撑 Mktg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691122" y="1881378"/>
            <a:ext cx="169392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销售赋能·市场情报·客户数据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5800" y="237744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2377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八大职能共同构成企业运营的"能力底座"，缺一不可——任何一个职能的短板，都会成为业务增长的隐性障碍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为什么需要FE？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职能痛点 · 业务影响 · 华为成果数据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职能能力短板是企业增长的隐形天花板，FE是突破天花板的系统解法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2468880" cy="4572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典型痛点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没有FE会发生什么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010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业务关联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职能能力如何影响业务增长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4758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成果验证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华为FE带来的量化成果</a:t>
            </a:r>
            <a:endParaRPr lang="en-US" sz="1100" dirty="0"/>
          </a:p>
        </p:txBody>
      </p:sp>
      <p:pic>
        <p:nvPicPr>
          <p:cNvPr id="25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没有FE的典型痛点诊断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97296" y="137160"/>
            <a:ext cx="3072384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5797296" y="13716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为什么需要FE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这些痛点，你的企业有几个？（4个以上，建议立即启动FE诊断）</a:t>
            </a:r>
            <a:endParaRPr lang="en-US" sz="12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914400"/>
            <a:ext cx="411480" cy="41148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8229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人招不来·留不住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10904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招聘周期超过60天，关键岗位长期空缺；高潜人才流失率&gt;20%，HR没有预警机制，发现时已经太晚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54480" y="15087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财务数据"不好用"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17762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财务报告只有历史数据，看不出问题在哪；产品/客户维度的盈利分析缺失，战略决策靠"拍脑袋"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54480" y="21945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IT是"甲方噩梦"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54480" y="24620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业务提需求，IT说"排队等6个月"；系统建完没人用，或建完就落后；数据孤岛严重，跨部门数据对不上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2971800"/>
            <a:ext cx="411480" cy="41148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54480" y="28803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采购"漏洞百出"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54480" y="31478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绕流程采购比例高，合规风险大；关键供应商集中，供应中断没有预案；采购成本持续上升，无法管控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54480" y="35661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职能协同靠"找人"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554480" y="38336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业务需要跨职能支持时，必须靠人际关系；没有标准化的跨职能工作流，效率低且结果不可控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职能能力与业务增长的关联模型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97296" y="137160"/>
            <a:ext cx="3072384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5797296" y="13716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为什么需要FE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82296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2C5A8E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822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职能能力是业务持续增长的"底层操作系统"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1463040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1463040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1517904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E8832A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15179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20824" y="1481328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业务战略与市场竞争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179222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产品差异化、市场份额、客户价值——这些是业务竞争的"前台"，所有人都看得到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62272" y="2112264"/>
            <a:ext cx="219456" cy="18288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2350008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17" name="Shape 14"/>
          <p:cNvSpPr/>
          <p:nvPr/>
        </p:nvSpPr>
        <p:spPr>
          <a:xfrm>
            <a:off x="685800" y="2350008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" y="2404872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417ABE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240487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20824" y="2368296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业务流程与组织运营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2679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IPD研发流程、LTC销售流程、ISC供应链——华为花巨资建立的核心业务流程体系，是"中台"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62272" y="2999232"/>
            <a:ext cx="219456" cy="18288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23" name="Shape 20"/>
          <p:cNvSpPr/>
          <p:nvPr/>
        </p:nvSpPr>
        <p:spPr>
          <a:xfrm>
            <a:off x="685800" y="3236976"/>
            <a:ext cx="7772400" cy="630936"/>
          </a:xfrm>
          <a:prstGeom prst="roundRect">
            <a:avLst>
              <a:gd name="adj" fmla="val 8696"/>
            </a:avLst>
          </a:prstGeom>
          <a:solidFill>
            <a:srgbClr val="F0F5FA"/>
          </a:solidFill>
          <a:ln/>
        </p:spPr>
      </p:sp>
      <p:sp>
        <p:nvSpPr>
          <p:cNvPr id="24" name="Shape 21"/>
          <p:cNvSpPr/>
          <p:nvPr/>
        </p:nvSpPr>
        <p:spPr>
          <a:xfrm>
            <a:off x="685800" y="3236976"/>
            <a:ext cx="64008" cy="630936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25" name="Shape 22"/>
          <p:cNvSpPr/>
          <p:nvPr/>
        </p:nvSpPr>
        <p:spPr>
          <a:xfrm>
            <a:off x="914400" y="3291840"/>
            <a:ext cx="969264" cy="237744"/>
          </a:xfrm>
          <a:prstGeom prst="roundRect">
            <a:avLst>
              <a:gd name="adj" fmla="val 61538"/>
            </a:avLst>
          </a:prstGeom>
          <a:solidFill>
            <a:srgbClr val="2C5A8E"/>
          </a:solidFill>
          <a:ln/>
        </p:spPr>
      </p:sp>
      <p:sp>
        <p:nvSpPr>
          <p:cNvPr id="26" name="Text 23"/>
          <p:cNvSpPr/>
          <p:nvPr/>
        </p:nvSpPr>
        <p:spPr>
          <a:xfrm>
            <a:off x="914400" y="329184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020824" y="3255264"/>
            <a:ext cx="6163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职能能力（FE体系）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HR·财经·IT·采购·法务——支撑所有业务流程正常运转的"底层操作系统"，是最容易被忽视的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85800" y="4005072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4005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底层操作系统决定上层应用的天花板：职能能力不足，再好的业务策略和流程也无法高效执行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华为FE变革的成果数据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797296" y="137160"/>
            <a:ext cx="3072384" cy="320040"/>
          </a:xfrm>
          <a:prstGeom prst="roundRect">
            <a:avLst>
              <a:gd name="adj" fmla="val 45714"/>
            </a:avLst>
          </a:prstGeom>
          <a:solidFill>
            <a:srgbClr val="E8832A"/>
          </a:solidFill>
          <a:ln/>
        </p:spPr>
      </p:sp>
      <p:sp>
        <p:nvSpPr>
          <p:cNvPr id="5" name="Text 3"/>
          <p:cNvSpPr/>
          <p:nvPr/>
        </p:nvSpPr>
        <p:spPr>
          <a:xfrm>
            <a:off x="5797296" y="13716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为什么需要FE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数据来源：华为公开年报、管理变革公开案例及行业研究</a:t>
            </a:r>
            <a:endParaRPr lang="en-US" sz="9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10天→3天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财务关账周期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743200" y="1188720"/>
            <a:ext cx="0" cy="137160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全球7个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财务共享中心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4572000" y="1188720"/>
            <a:ext cx="0" cy="137160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80%+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财务预测准确率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6400800" y="1188720"/>
            <a:ext cx="0" cy="1371600"/>
          </a:xfrm>
          <a:prstGeom prst="line">
            <a:avLst/>
          </a:prstGeom>
          <a:noFill/>
          <a:ln w="12700">
            <a:solidFill>
              <a:srgbClr val="D0D8E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914400"/>
            <a:ext cx="182880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2009→今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HRBP全面覆盖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685800" y="2514600"/>
            <a:ext cx="7772400" cy="1280160"/>
          </a:xfrm>
          <a:prstGeom prst="roundRect">
            <a:avLst>
              <a:gd name="adj" fmla="val 7143"/>
            </a:avLst>
          </a:prstGeom>
          <a:solidFill>
            <a:srgbClr val="417ABE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260604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华为通过十年FE建设，将HR从"人事部"变成"人才战略中枢"，将财经从"记账部门"变成"经营决策伙伴"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《华为管理变革》公开资料整理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 如何落地？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变革路径 · 成熟度模型 · 关键举措 · 协同关系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FE落地 = 三层次变革路径 × FE成熟度阶梯 × 与核心流程的协同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2468880" cy="4572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三层次路径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流程优化·能力提升·文化变革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010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成熟度模型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L1到L5的跃迁路径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4758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关键举措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各职能FE提升的核心动作</a:t>
            </a:r>
            <a:endParaRPr lang="en-US" sz="1100" dirty="0"/>
          </a:p>
        </p:txBody>
      </p:sp>
      <p:pic>
        <p:nvPicPr>
          <p:cNvPr id="25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FE变革路径的三个层次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FE如何落地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你的企业FE变革，目前在哪个层次？大多数企业卡在第一层。</a:t>
            </a:r>
            <a:endParaRPr lang="en-US" sz="12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822960"/>
            <a:ext cx="7772400" cy="6400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822960"/>
            <a:ext cx="64008" cy="64008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822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08760" y="822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第一层：流程优化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43400" y="822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优化职能内部及跨职能关键流程，消除冗余降低内耗。工具：As-Is/To-Be梳理、SOP标准化。产出：招聘周期缩短30%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1600200"/>
            <a:ext cx="64008" cy="64008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7A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第二层：能力提升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343400" y="1600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建立职能人员能力模型，系统性培训发展，引入华为标杆最佳实践。典型产出：HRBP认证体系建立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85800" y="2377440"/>
            <a:ext cx="7772400" cy="640080"/>
          </a:xfrm>
          <a:prstGeom prst="rect">
            <a:avLst/>
          </a:prstGeom>
          <a:solidFill>
            <a:srgbClr val="F0F5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" y="2377440"/>
            <a:ext cx="64008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2377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508760" y="2377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第三层：文化变革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343400" y="2377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改变职能心智：从"我服务业务"到"我是业务伙伴"。KPI与业务成果挂钩，塑造持续改进的职能文化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5800" y="3264408"/>
            <a:ext cx="7772400" cy="36576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264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三层次不是顺序关系，而是并行推进、相互强化——但第一层是基础，没有流程优化就谈不上能力提升和文化变革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FE成熟度模型：L1→L5跃迁路径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FE如何落地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9144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914400"/>
            <a:ext cx="1463040" cy="64008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1097280"/>
            <a:ext cx="402336" cy="402336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743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被动执行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事务处理为主，靠个人经验，无标准流程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691640" y="1810512"/>
            <a:ext cx="274320" cy="219456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14" name="Shape 11"/>
          <p:cNvSpPr/>
          <p:nvPr/>
        </p:nvSpPr>
        <p:spPr>
          <a:xfrm>
            <a:off x="2011680" y="9144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11680" y="914400"/>
            <a:ext cx="1463040" cy="64008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6" name="Shape 13"/>
          <p:cNvSpPr/>
          <p:nvPr/>
        </p:nvSpPr>
        <p:spPr>
          <a:xfrm>
            <a:off x="2542032" y="1097280"/>
            <a:ext cx="402336" cy="402336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7" name="Text 14"/>
          <p:cNvSpPr/>
          <p:nvPr/>
        </p:nvSpPr>
        <p:spPr>
          <a:xfrm>
            <a:off x="25420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1031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规范运作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1031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基础流程建立，服务稳定可预期，有SLA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20440" y="1810512"/>
            <a:ext cx="274320" cy="219456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21" name="Shape 18"/>
          <p:cNvSpPr/>
          <p:nvPr/>
        </p:nvSpPr>
        <p:spPr>
          <a:xfrm>
            <a:off x="3840480" y="9144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840480" y="914400"/>
            <a:ext cx="146304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Shape 20"/>
          <p:cNvSpPr/>
          <p:nvPr/>
        </p:nvSpPr>
        <p:spPr>
          <a:xfrm>
            <a:off x="4370832" y="1097280"/>
            <a:ext cx="402336" cy="40233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Text 21"/>
          <p:cNvSpPr/>
          <p:nvPr/>
        </p:nvSpPr>
        <p:spPr>
          <a:xfrm>
            <a:off x="43708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9319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业务伙伴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9319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主动嵌入业务，差异化服务，初步挂钩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274320" cy="219456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28" name="Shape 25"/>
          <p:cNvSpPr/>
          <p:nvPr/>
        </p:nvSpPr>
        <p:spPr>
          <a:xfrm>
            <a:off x="5669280" y="9144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69280" y="914400"/>
            <a:ext cx="1463040" cy="6400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30" name="Shape 27"/>
          <p:cNvSpPr/>
          <p:nvPr/>
        </p:nvSpPr>
        <p:spPr>
          <a:xfrm>
            <a:off x="6199632" y="1097280"/>
            <a:ext cx="402336" cy="402336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31" name="Text 28"/>
          <p:cNvSpPr/>
          <p:nvPr/>
        </p:nvSpPr>
        <p:spPr>
          <a:xfrm>
            <a:off x="61996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7607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数据驱动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7607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数据量化贡献，持续优化，影响决策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78040" y="1810512"/>
            <a:ext cx="274320" cy="219456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35" name="Shape 32"/>
          <p:cNvSpPr/>
          <p:nvPr/>
        </p:nvSpPr>
        <p:spPr>
          <a:xfrm>
            <a:off x="7498080" y="914400"/>
            <a:ext cx="1463040" cy="2011680"/>
          </a:xfrm>
          <a:prstGeom prst="roundRect">
            <a:avLst>
              <a:gd name="adj" fmla="val 6250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0" y="914400"/>
            <a:ext cx="146304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4"/>
          <p:cNvSpPr/>
          <p:nvPr/>
        </p:nvSpPr>
        <p:spPr>
          <a:xfrm>
            <a:off x="8028432" y="1097280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5"/>
          <p:cNvSpPr/>
          <p:nvPr/>
        </p:nvSpPr>
        <p:spPr>
          <a:xfrm>
            <a:off x="8028432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89520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战略引领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5895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洞察引领战略，成为核心竞争优势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85800" y="3154680"/>
            <a:ext cx="7772400" cy="1280160"/>
          </a:xfrm>
          <a:prstGeom prst="roundRect">
            <a:avLst>
              <a:gd name="adj" fmla="val 7143"/>
            </a:avLst>
          </a:prstGeom>
          <a:solidFill>
            <a:srgbClr val="417ABE"/>
          </a:solidFill>
          <a:ln/>
        </p:spPr>
      </p:sp>
      <p:sp>
        <p:nvSpPr>
          <p:cNvPr id="42" name="Text 39"/>
          <p:cNvSpPr/>
          <p:nvPr/>
        </p:nvSpPr>
        <p:spPr>
          <a:xfrm>
            <a:off x="1051560" y="3246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中国企业现状：约75%停留在L1-L2；华为、阿里等头部：L4-L5。大多数企业FE提升的现实目标：3年内从L1-L2跨越到L3-L4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51560" y="40233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薄云咨询行业调研估算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各职能FE提升的关键举措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FE如何落地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基于华为FE实践与薄云咨询项目经验整理</a:t>
            </a:r>
            <a:endParaRPr lang="en-US" sz="9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822960"/>
          <a:ext cx="7772400" cy="914400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  <a:gridCol w="1943100"/>
                <a:gridCol w="19431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职能领域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当前常见症状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FE核心举措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标志性成果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8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人力资源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事务繁忙，业务不认可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三支柱转型（HRBP+CoE+SSC）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HRBP成为业务决策参与者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记账准确，决策无力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财经BP+管理会计体系建设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按产品线/客户可视化盈利分析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信息技术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系统维护，需求积压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IT治理+数字化使能转型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IT项目ROI可量化，业务满意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价格谈判，合规漏洞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战略采购+供应商分级管理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关键供应商双源覆盖，合规率≥95%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法务合规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打官司，事后救火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合规体系+法务BP前移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主动风险防控，零重大合规事故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1234440"/>
            <a:ext cx="54864" cy="36576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0" name="Shape 6"/>
          <p:cNvSpPr/>
          <p:nvPr/>
        </p:nvSpPr>
        <p:spPr>
          <a:xfrm>
            <a:off x="685800" y="1600200"/>
            <a:ext cx="54864" cy="3657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11" name="Shape 7"/>
          <p:cNvSpPr/>
          <p:nvPr/>
        </p:nvSpPr>
        <p:spPr>
          <a:xfrm>
            <a:off x="685800" y="1965960"/>
            <a:ext cx="54864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8"/>
          <p:cNvSpPr/>
          <p:nvPr/>
        </p:nvSpPr>
        <p:spPr>
          <a:xfrm>
            <a:off x="685800" y="2331720"/>
            <a:ext cx="54864" cy="36576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3" name="Shape 9"/>
          <p:cNvSpPr/>
          <p:nvPr/>
        </p:nvSpPr>
        <p:spPr>
          <a:xfrm>
            <a:off x="685800" y="2697480"/>
            <a:ext cx="54864" cy="36576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320040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3200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每个职能的FE提升，都有清晰的"从……到……"的转变路径，都有可量化的成果衡量——这是FE区别于一般培训项目的关键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FE与IPD/ISC/IFS的协同图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FE如何落地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BPA流程三类协同关系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13258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IPD研发流程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258568" y="1481328"/>
            <a:ext cx="237744" cy="146304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11" name="Shape 8"/>
          <p:cNvSpPr/>
          <p:nvPr/>
        </p:nvSpPr>
        <p:spPr>
          <a:xfrm rot="10800000">
            <a:off x="2532888" y="1481328"/>
            <a:ext cx="23774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2" name="Shape 9"/>
          <p:cNvSpPr/>
          <p:nvPr/>
        </p:nvSpPr>
        <p:spPr>
          <a:xfrm>
            <a:off x="2880360" y="13258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832A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HR人才供给 + IT研发工具 + 采购早期介入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194995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C5A8E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194995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LTC线索到回款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258568" y="2105406"/>
            <a:ext cx="237744" cy="146304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17" name="Shape 14"/>
          <p:cNvSpPr/>
          <p:nvPr/>
        </p:nvSpPr>
        <p:spPr>
          <a:xfrm rot="10800000">
            <a:off x="2532888" y="2105406"/>
            <a:ext cx="23774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8" name="Shape 15"/>
          <p:cNvSpPr/>
          <p:nvPr/>
        </p:nvSpPr>
        <p:spPr>
          <a:xfrm>
            <a:off x="2880360" y="194995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832A"/>
          </a:solidFill>
          <a:ln/>
        </p:spPr>
      </p:sp>
      <p:sp>
        <p:nvSpPr>
          <p:cNvPr id="19" name="Text 16"/>
          <p:cNvSpPr/>
          <p:nvPr/>
        </p:nvSpPr>
        <p:spPr>
          <a:xfrm>
            <a:off x="2880360" y="194995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财经BP合同管控 + 法务风险审查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7240" y="257403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C5A8E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25740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ISC集成供应链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258568" y="2729484"/>
            <a:ext cx="237744" cy="146304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23" name="Shape 20"/>
          <p:cNvSpPr/>
          <p:nvPr/>
        </p:nvSpPr>
        <p:spPr>
          <a:xfrm rot="10800000">
            <a:off x="2532888" y="2729484"/>
            <a:ext cx="23774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4" name="Shape 21"/>
          <p:cNvSpPr/>
          <p:nvPr/>
        </p:nvSpPr>
        <p:spPr>
          <a:xfrm>
            <a:off x="2880360" y="2574036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832A"/>
          </a:solidFill>
          <a:ln/>
        </p:spPr>
      </p:sp>
      <p:sp>
        <p:nvSpPr>
          <p:cNvPr id="25" name="Text 22"/>
          <p:cNvSpPr/>
          <p:nvPr/>
        </p:nvSpPr>
        <p:spPr>
          <a:xfrm>
            <a:off x="2880360" y="25740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采购战略化 + 财经成本管控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77240" y="319811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C5A8E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319811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IFS集成财务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2258568" y="3353562"/>
            <a:ext cx="237744" cy="146304"/>
          </a:xfrm>
          <a:prstGeom prst="rightArrow">
            <a:avLst/>
          </a:prstGeom>
          <a:solidFill>
            <a:srgbClr val="417ABE"/>
          </a:solidFill>
          <a:ln/>
        </p:spPr>
      </p:sp>
      <p:sp>
        <p:nvSpPr>
          <p:cNvPr id="29" name="Shape 26"/>
          <p:cNvSpPr/>
          <p:nvPr/>
        </p:nvSpPr>
        <p:spPr>
          <a:xfrm rot="10800000">
            <a:off x="2532888" y="3353562"/>
            <a:ext cx="23774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30" name="Shape 27"/>
          <p:cNvSpPr/>
          <p:nvPr/>
        </p:nvSpPr>
        <p:spPr>
          <a:xfrm>
            <a:off x="2880360" y="3198114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E8832A"/>
          </a:solidFill>
          <a:ln/>
        </p:spPr>
      </p:sp>
      <p:sp>
        <p:nvSpPr>
          <p:cNvPr id="31" name="Text 28"/>
          <p:cNvSpPr/>
          <p:nvPr/>
        </p:nvSpPr>
        <p:spPr>
          <a:xfrm>
            <a:off x="2880360" y="319811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财经FE是IFS的能力基础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800600" y="822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FE协同的核心原则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800600" y="1325880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0F5FA"/>
          </a:solidFill>
          <a:ln/>
        </p:spPr>
      </p:sp>
      <p:sp>
        <p:nvSpPr>
          <p:cNvPr id="34" name="Shape 31"/>
          <p:cNvSpPr/>
          <p:nvPr/>
        </p:nvSpPr>
        <p:spPr>
          <a:xfrm>
            <a:off x="4937760" y="1463040"/>
            <a:ext cx="411480" cy="41148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35" name="Text 32"/>
          <p:cNvSpPr/>
          <p:nvPr/>
        </p:nvSpPr>
        <p:spPr>
          <a:xfrm>
            <a:off x="493776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86400" y="13990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业务价值导向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486400" y="1709928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每项FE举措必须能说明对核心业务流程的贡献，不做脱离业务的"职能自嗨"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00600" y="2157984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0F5FA"/>
          </a:solidFill>
          <a:ln/>
        </p:spPr>
      </p:sp>
      <p:sp>
        <p:nvSpPr>
          <p:cNvPr id="39" name="Shape 36"/>
          <p:cNvSpPr/>
          <p:nvPr/>
        </p:nvSpPr>
        <p:spPr>
          <a:xfrm>
            <a:off x="4937760" y="2295144"/>
            <a:ext cx="411480" cy="41148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40" name="Text 37"/>
          <p:cNvSpPr/>
          <p:nvPr/>
        </p:nvSpPr>
        <p:spPr>
          <a:xfrm>
            <a:off x="493776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5486400" y="22311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端到端整合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5486400" y="2542032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FE不是孤立提升单一职能，而是打通职能间壁垒，形成支撑业务端到端的协同能力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800600" y="2990088"/>
            <a:ext cx="3657600" cy="740664"/>
          </a:xfrm>
          <a:prstGeom prst="roundRect">
            <a:avLst>
              <a:gd name="adj" fmla="val 7407"/>
            </a:avLst>
          </a:prstGeom>
          <a:solidFill>
            <a:srgbClr val="F0F5FA"/>
          </a:solidFill>
          <a:ln/>
        </p:spPr>
      </p:sp>
      <p:sp>
        <p:nvSpPr>
          <p:cNvPr id="44" name="Shape 41"/>
          <p:cNvSpPr/>
          <p:nvPr/>
        </p:nvSpPr>
        <p:spPr>
          <a:xfrm>
            <a:off x="4937760" y="3127248"/>
            <a:ext cx="411480" cy="41148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45" name="Text 42"/>
          <p:cNvSpPr/>
          <p:nvPr/>
        </p:nvSpPr>
        <p:spPr>
          <a:xfrm>
            <a:off x="493776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486400" y="3063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同步推进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5486400" y="3374136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FE与业务流程变革同步推进，业务流程升级到哪里，支撑职能能力就跟进到哪里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85800" y="4005072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49" name="Text 46"/>
          <p:cNvSpPr/>
          <p:nvPr/>
        </p:nvSpPr>
        <p:spPr>
          <a:xfrm>
            <a:off x="685800" y="40050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 = 华为BPA体系中Supporting流程的系统升级，是IPD/ISC/IFS成功落地的重要保障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FE推进的典型里程碑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FE如何落地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你的企业FE提升，最合适从哪个里程碑开始？</a:t>
            </a:r>
            <a:endParaRPr lang="en-US" sz="12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463040"/>
            <a:ext cx="7772400" cy="0"/>
          </a:xfrm>
          <a:prstGeom prst="line">
            <a:avLst/>
          </a:prstGeom>
          <a:noFill/>
          <a:ln w="25400">
            <a:solidFill>
              <a:srgbClr val="417A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25880" y="1325880"/>
            <a:ext cx="274320" cy="27432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M1-2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FE诊断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成熟度基线测量，优先改进领域确认，管理层共识建立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80360" y="1325880"/>
            <a:ext cx="274320" cy="27432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4" name="Text 11"/>
          <p:cNvSpPr/>
          <p:nvPr/>
        </p:nvSpPr>
        <p:spPr>
          <a:xfrm>
            <a:off x="224028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7A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M3-5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402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3172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FE提升方案（组织/流程/能力设计），KPI体系确立，资源配置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132588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5"/>
          <p:cNvSpPr/>
          <p:nvPr/>
        </p:nvSpPr>
        <p:spPr>
          <a:xfrm>
            <a:off x="379476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M6-9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947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8620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1-2个职能领域试点，HRBP/BP上岗，样板案例打造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89320" y="1325880"/>
            <a:ext cx="274320" cy="27432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22" name="Text 19"/>
          <p:cNvSpPr/>
          <p:nvPr/>
        </p:nvSpPr>
        <p:spPr>
          <a:xfrm>
            <a:off x="534924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M10-18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492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全面推广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4068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试点成果发布，全公司推广，内部冠军传播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43800" y="1325880"/>
            <a:ext cx="274320" cy="2743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822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M19+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037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固化运营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951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FE能力制度化，年度成熟度复评，持续迭代优化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82296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>
                    <a:alpha val="7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薄云咨询的 FE 服务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 · 设计 · 实施 · 下一步行动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7772400" cy="502920"/>
          </a:xfrm>
          <a:prstGeom prst="roundRect">
            <a:avLst>
              <a:gd name="adj" fmla="val 10909"/>
            </a:avLst>
          </a:prstGeom>
          <a:solidFill>
            <a:srgbClr val="F0F5F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23160"/>
            <a:ext cx="64008" cy="5029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用华为经验，帮你用3年走完华为走了10年的FE之路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154680"/>
            <a:ext cx="2468880" cy="45720"/>
          </a:xfrm>
          <a:prstGeom prst="rect">
            <a:avLst/>
          </a:prstGeom>
          <a:solidFill>
            <a:srgbClr val="2C5A8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FE诊断服务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2-8周，快速建立能力基线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010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FE设计实施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3-12个月，系统性落地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47588" y="3470148"/>
            <a:ext cx="14630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31546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3154680"/>
            <a:ext cx="2468880" cy="4572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下一步行动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5387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从今天起，可以做什么</a:t>
            </a:r>
            <a:endParaRPr lang="en-US" sz="1100" dirty="0"/>
          </a:p>
        </p:txBody>
      </p:sp>
      <p:pic>
        <p:nvPicPr>
          <p:cNvPr id="25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薄云FE诊断服务：快速找到突破口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薄云FE服务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82296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822960"/>
            <a:ext cx="36576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快速诊断（2周）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14630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适用：立项决策、快速了解现状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方式：问卷+3-5次高管访谈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产出：FE成熟度雷达图+路线图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报价：¥15-25万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价值：2周内知道"最短板在哪"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82296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0F5FA"/>
          </a:solidFill>
          <a:ln/>
        </p:spPr>
      </p:sp>
      <p:sp>
        <p:nvSpPr>
          <p:cNvPr id="12" name="Shape 9"/>
          <p:cNvSpPr/>
          <p:nvPr/>
        </p:nvSpPr>
        <p:spPr>
          <a:xfrm>
            <a:off x="4846320" y="822960"/>
            <a:ext cx="365760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深度诊断（6-8周）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120640" y="146304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适用：已决定推进FE，需要详细基线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方式：30-50次访谈+数据分析+现场观察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产出：完整报告+行动计划+标杆对比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报价：¥40-80万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价值：系统性基线+可落地的改进方案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66260" y="2057400"/>
            <a:ext cx="411480" cy="41148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16" name="Text 13"/>
          <p:cNvSpPr/>
          <p:nvPr/>
        </p:nvSpPr>
        <p:spPr>
          <a:xfrm>
            <a:off x="43662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无论选哪种诊断，我们的承诺都是：交付可操作的结论，不只是漂亮的报告——每项发现都有对应的改进建议和优先级排序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薄云FE提升咨询路径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薄云FE服务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我们的承诺：每项投入都有明确的业务价值衡量，ROI可见</a:t>
            </a:r>
            <a:endParaRPr lang="en-US" sz="1200" dirty="0"/>
          </a:p>
        </p:txBody>
      </p:sp>
      <p:pic>
        <p:nvPicPr>
          <p:cNvPr id="7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914400"/>
            <a:ext cx="411480" cy="411480"/>
          </a:xfrm>
          <a:prstGeom prst="ellipse">
            <a:avLst/>
          </a:prstGeom>
          <a:solidFill>
            <a:srgbClr val="2C5A8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8229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诊断：建立基线找突破口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10904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FE成熟度评估+优先改进领域确认+12-36个月路线图。管理层有清晰的起点和方向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1600200"/>
            <a:ext cx="411480" cy="411480"/>
          </a:xfrm>
          <a:prstGeom prst="ellipse">
            <a:avLst/>
          </a:prstGeom>
          <a:solidFill>
            <a:srgbClr val="417AB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54480" y="15087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设计：方案精准蓝图清晰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17762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组织架构+流程重构+能力模型+KPI体系。每个关键角色知道该做什么、达到什么标准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54480" y="21945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试点：小范围验证打样板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54480" y="24620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1-2个职能部门试点，顾问全程驻场辅导，每月量化成果报告，打造可复制样板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" y="2971800"/>
            <a:ext cx="411480" cy="411480"/>
          </a:xfrm>
          <a:prstGeom prst="ellipse">
            <a:avLst/>
          </a:prstGeom>
          <a:solidFill>
            <a:srgbClr val="E8832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54480" y="28803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推广：扩大战果全面覆盖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54480" y="31478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分批推广全公司，培训内部讲师，建立自我运作能力，不依赖外部顾问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554480" y="3566160"/>
            <a:ext cx="68580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C5A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固化：制度锁定文化落地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554480" y="3833622"/>
            <a:ext cx="685800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FE要求嵌入制度/KPI/招聘标准，年度成熟度复评，成为企业内生能力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0"/>
            <a:ext cx="292608" cy="594360"/>
          </a:xfrm>
          <a:prstGeom prst="rect">
            <a:avLst/>
          </a:prstGeom>
          <a:solidFill>
            <a:srgbClr val="417AB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7A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98464" y="137160"/>
            <a:ext cx="2871216" cy="320040"/>
          </a:xfrm>
          <a:prstGeom prst="roundRect">
            <a:avLst>
              <a:gd name="adj" fmla="val 45714"/>
            </a:avLst>
          </a:prstGeom>
          <a:solidFill>
            <a:srgbClr val="2C5A8E"/>
          </a:solidFill>
          <a:ln/>
        </p:spPr>
      </p:sp>
      <p:sp>
        <p:nvSpPr>
          <p:cNvPr id="5" name="Text 3"/>
          <p:cNvSpPr/>
          <p:nvPr/>
        </p:nvSpPr>
        <p:spPr>
          <a:xfrm>
            <a:off x="5998464" y="13716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薄云FE服务</a:t>
            </a:r>
            <a:endParaRPr lang="en-US" sz="12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82296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86868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1069848"/>
            <a:ext cx="225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今天散会后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795272" y="150876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1783080"/>
            <a:ext cx="2438400" cy="777240"/>
          </a:xfrm>
          <a:prstGeom prst="roundRect">
            <a:avLst>
              <a:gd name="adj" fmla="val 7059"/>
            </a:avLst>
          </a:prstGeom>
          <a:solidFill>
            <a:srgbClr val="2C5A8E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82880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00253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内部讨论FE优先级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2331720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和HR/CFO/CIO各聊30分钟，聊聊他们认为最大的职能短板是什么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42488" y="2098548"/>
            <a:ext cx="19202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16" name="Shape 13"/>
          <p:cNvSpPr/>
          <p:nvPr/>
        </p:nvSpPr>
        <p:spPr>
          <a:xfrm>
            <a:off x="3352800" y="82296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2800" y="86868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44240" y="1069848"/>
            <a:ext cx="225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本周内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462272" y="150876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20" name="Shape 17"/>
          <p:cNvSpPr/>
          <p:nvPr/>
        </p:nvSpPr>
        <p:spPr>
          <a:xfrm>
            <a:off x="3352800" y="1783080"/>
            <a:ext cx="2438400" cy="777240"/>
          </a:xfrm>
          <a:prstGeom prst="roundRect">
            <a:avLst>
              <a:gd name="adj" fmla="val 7059"/>
            </a:avLst>
          </a:prstGeom>
          <a:solidFill>
            <a:srgbClr val="417ABE"/>
          </a:solidFill>
          <a:ln/>
        </p:spPr>
      </p:sp>
      <p:sp>
        <p:nvSpPr>
          <p:cNvPr id="21" name="Text 18"/>
          <p:cNvSpPr/>
          <p:nvPr/>
        </p:nvSpPr>
        <p:spPr>
          <a:xfrm>
            <a:off x="3352800" y="182880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44240" y="200253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完成一键自测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3444240" y="2331720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用薄云FE成熟度快速问卷，30分钟内得到你们的FE现状雷达图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09488" y="2098548"/>
            <a:ext cx="192024" cy="146304"/>
          </a:xfrm>
          <a:prstGeom prst="rightArrow">
            <a:avLst/>
          </a:prstGeom>
          <a:solidFill>
            <a:srgbClr val="E8832A"/>
          </a:solidFill>
          <a:ln/>
        </p:spPr>
      </p:sp>
      <p:sp>
        <p:nvSpPr>
          <p:cNvPr id="25" name="Shape 22"/>
          <p:cNvSpPr/>
          <p:nvPr/>
        </p:nvSpPr>
        <p:spPr>
          <a:xfrm>
            <a:off x="6019800" y="822960"/>
            <a:ext cx="2438400" cy="640080"/>
          </a:xfrm>
          <a:prstGeom prst="roundRect">
            <a:avLst>
              <a:gd name="adj" fmla="val 8571"/>
            </a:avLst>
          </a:prstGeom>
          <a:solidFill>
            <a:srgbClr val="F0F5FA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19800" y="86868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变革前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11240" y="1069848"/>
            <a:ext cx="225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两周内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129272" y="1508760"/>
            <a:ext cx="219456" cy="228600"/>
          </a:xfrm>
          <a:prstGeom prst="downArrow">
            <a:avLst/>
          </a:prstGeom>
          <a:solidFill>
            <a:srgbClr val="417ABE"/>
          </a:solidFill>
          <a:ln/>
        </p:spPr>
      </p:sp>
      <p:sp>
        <p:nvSpPr>
          <p:cNvPr id="29" name="Shape 26"/>
          <p:cNvSpPr/>
          <p:nvPr/>
        </p:nvSpPr>
        <p:spPr>
          <a:xfrm>
            <a:off x="6019800" y="1783080"/>
            <a:ext cx="2438400" cy="777240"/>
          </a:xfrm>
          <a:prstGeom prst="roundRect">
            <a:avLst>
              <a:gd name="adj" fmla="val 7059"/>
            </a:avLst>
          </a:prstGeom>
          <a:solidFill>
            <a:srgbClr val="27AE60"/>
          </a:solidFill>
          <a:ln/>
        </p:spPr>
      </p:sp>
      <p:sp>
        <p:nvSpPr>
          <p:cNvPr id="30" name="Text 27"/>
          <p:cNvSpPr/>
          <p:nvPr/>
        </p:nvSpPr>
        <p:spPr>
          <a:xfrm>
            <a:off x="6019800" y="1828800"/>
            <a:ext cx="243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变革后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111240" y="2002536"/>
            <a:ext cx="225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约一次诊断启动会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111240" y="2331720"/>
            <a:ext cx="225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薄云顾问团队上门，半天内给出初步的FE成熟度判断和优先改进建议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5800" y="2743200"/>
            <a:ext cx="7772400" cy="384048"/>
          </a:xfrm>
          <a:prstGeom prst="roundRect">
            <a:avLst>
              <a:gd name="adj" fmla="val 14286"/>
            </a:avLst>
          </a:prstGeom>
          <a:solidFill>
            <a:srgbClr val="2C5A8E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" y="27432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FE变革不需要等"万事俱备"——从今天一个小的对话开始，比等一个"完美的时机"开始更有价值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FFFFF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职能能力是企业持续增长最容易被忽视的底层基础——华为用十年建好了这个底座，你的企业，准备好了吗？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3749040"/>
            <a:ext cx="1828800" cy="0"/>
          </a:xfrm>
          <a:prstGeom prst="line">
            <a:avLst/>
          </a:prstGeom>
          <a:noFill/>
          <a:ln w="38100">
            <a:solidFill>
              <a:srgbClr val="E88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3931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薄云咨询 · 华为FE体系解读</a:t>
            </a:r>
            <a:endParaRPr lang="en-US" sz="1600" dirty="0"/>
          </a:p>
        </p:txBody>
      </p:sp>
      <p:pic>
        <p:nvPicPr>
          <p:cNvPr id="6" name="Image 0" descr="/Users/bring-2/.openclaw/workspace/skills/bringppt_backup_v2/assets/bri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4572000"/>
            <a:ext cx="100584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0916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00">
                <a:solidFill>
                  <a:srgbClr val="999999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5A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1426464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7424928" y="740664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1426464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7424928" y="4114800"/>
            <a:ext cx="292608" cy="292608"/>
          </a:xfrm>
          <a:prstGeom prst="star4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华为FE体系 · 职能卓越之路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1965960"/>
            <a:ext cx="2743200" cy="2286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 — 华为管理实践的本土转化专家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薄云咨询顾问团队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0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www.bringgz.com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华为FE职能卓越体系介绍_薄云版</dc:title>
  <dc:subject>PptxGenJS Presentation</dc:subject>
  <dc:creator>薄云咨询</dc:creator>
  <cp:lastModifiedBy>薄云咨询</cp:lastModifiedBy>
  <cp:revision>1</cp:revision>
  <dcterms:created xsi:type="dcterms:W3CDTF">2026-03-24T07:27:22Z</dcterms:created>
  <dcterms:modified xsi:type="dcterms:W3CDTF">2026-03-24T07:27:22Z</dcterms:modified>
</cp:coreProperties>
</file>